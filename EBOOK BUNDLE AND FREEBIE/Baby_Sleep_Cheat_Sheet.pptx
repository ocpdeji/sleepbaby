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678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00000" y="-1080000"/>
            <a:ext cx="4320000" cy="4320000"/>
          </a:xfrm>
          <a:prstGeom prst="ellipse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40000" y="7200000"/>
            <a:ext cx="2880000" cy="2880000"/>
          </a:xfrm>
          <a:prstGeom prst="ellipse">
            <a:avLst/>
          </a:prstGeom>
          <a:solidFill>
            <a:srgbClr val="16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51200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580000" y="900000"/>
            <a:ext cx="1260000" cy="1260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80000" y="1152000"/>
            <a:ext cx="12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0D1B3E"/>
                </a:solidFill>
                <a:latin typeface="Georgia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000" y="1512000"/>
            <a:ext cx="126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0D1B3E"/>
                </a:solidFill>
                <a:latin typeface="Arial"/>
              </a:defRPr>
            </a:pPr>
            <a:r>
              <a:t>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620000"/>
            <a:ext cx="46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FROM THE AUTHOR OF SLEEP, BABY. PLEASE.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1908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000" y="288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The Baby Sleep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96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 i="1">
                <a:solidFill>
                  <a:srgbClr val="C9A84C"/>
                </a:solidFill>
                <a:latin typeface="Georgia"/>
              </a:defRPr>
            </a:pPr>
            <a:r>
              <a:t>Cheat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5148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08000" y="5094000"/>
            <a:ext cx="144000" cy="144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0000" y="5472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0EBE1"/>
                </a:solidFill>
                <a:latin typeface="Arial"/>
              </a:defRPr>
            </a:pPr>
            <a:r>
              <a:t>Wake windows, nap counts, and bedtime targets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F0EBE1"/>
                </a:solidFill>
                <a:latin typeface="Arial"/>
              </a:defRPr>
            </a:pPr>
            <a:r>
              <a:t>for every age — birth to 24 months.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6480000"/>
            <a:ext cx="61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The exact awake window for your baby's age</a:t>
            </a:r>
          </a:p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The 5 reasons your baby fights sleep</a:t>
            </a:r>
          </a:p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Tonight's 6-step plan you can start in 10 minutes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8640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0000" y="8820000"/>
            <a:ext cx="61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SIX  &amp;  THRIVING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9252000"/>
            <a:ext cx="61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E8C97A"/>
                </a:solidFill>
                <a:latin typeface="Arial"/>
              </a:defRPr>
            </a:pPr>
            <a:r>
              <a:t>Mother of Six — Still Here at 3 a.m.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10260000"/>
            <a:ext cx="75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9A84C"/>
                </a:solidFill>
                <a:latin typeface="Arial"/>
              </a:defRPr>
            </a:pPr>
            <a:r>
              <a:t>www.sixandthriving.com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A Letter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BEFORE WE GET TO THE 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1152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0D1B3E"/>
                </a:solidFill>
                <a:latin typeface="Georgia"/>
              </a:defRPr>
            </a:pPr>
            <a:r>
              <a:t>If you're reading this</a:t>
            </a:r>
            <a:br/>
            <a:r>
              <a:t>at 2 a.m. — this is for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2520000"/>
            <a:ext cx="108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000" y="2808000"/>
            <a:ext cx="61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100" b="0" i="0">
                <a:solidFill>
                  <a:srgbClr val="4A5568"/>
                </a:solidFill>
                <a:latin typeface="Arial"/>
              </a:defRPr>
            </a:pPr>
            <a:r>
              <a:t>I see you. Probably in a rocking chair. Maybe on the nursery floor. Holding a baby who should — by every logical measure — be exhausted. And yet here you both are.</a:t>
            </a:r>
          </a:p>
          <a:p>
            <a:pPr algn="l">
              <a:spcAft>
                <a:spcPts val="1000"/>
              </a:spcAft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I've been there. Six times.</a:t>
            </a:r>
          </a:p>
          <a:p>
            <a:pPr algn="l">
              <a:spcAft>
                <a:spcPts val="1000"/>
              </a:spcAft>
              <a:defRPr sz="1100" b="0" i="0">
                <a:solidFill>
                  <a:srgbClr val="4A5568"/>
                </a:solidFill>
                <a:latin typeface="Arial"/>
              </a:defRPr>
            </a:pPr>
            <a:r>
              <a:t>I want you to know something before you read another word: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4860000"/>
            <a:ext cx="6120000" cy="11520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0000" y="4860000"/>
            <a:ext cx="72000" cy="115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6000" y="4932000"/>
            <a:ext cx="57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 i="1">
                <a:solidFill>
                  <a:srgbClr val="E8C97A"/>
                </a:solidFill>
                <a:latin typeface="Georgia"/>
              </a:defRPr>
            </a:pPr>
            <a:r>
              <a:t>"Your baby is not broken.</a:t>
            </a:r>
          </a:p>
          <a:p>
            <a:pPr algn="l">
              <a:spcAft>
                <a:spcPts val="400"/>
              </a:spcAft>
              <a:defRPr sz="1500" b="1" i="1">
                <a:solidFill>
                  <a:srgbClr val="E8C97A"/>
                </a:solidFill>
                <a:latin typeface="Georgia"/>
              </a:defRPr>
            </a:pPr>
            <a:r>
              <a:t>You are not failing.</a:t>
            </a:r>
          </a:p>
          <a:p>
            <a:pPr algn="l">
              <a:spcAft>
                <a:spcPts val="600"/>
              </a:spcAft>
              <a:defRPr sz="1100" b="0" i="1">
                <a:solidFill>
                  <a:srgbClr val="FAF7F2"/>
                </a:solidFill>
                <a:latin typeface="Arial"/>
              </a:defRPr>
            </a:pPr>
            <a:r>
              <a:t>This is temporary, solvable, and you will come through it."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6300000"/>
            <a:ext cx="61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100" b="0" i="0">
                <a:solidFill>
                  <a:srgbClr val="4A5568"/>
                </a:solidFill>
                <a:latin typeface="Arial"/>
              </a:defRPr>
            </a:pPr>
            <a:r>
              <a:t>I'm a mom of six — including a set of twins. I've spent the last decade in the trenches of infant and toddler sleep. I'm not a sleep clinic. I don't have a PhD. I lived it. Every scenario in the full guide.</a:t>
            </a:r>
          </a:p>
          <a:p>
            <a:pPr algn="l">
              <a:spcAft>
                <a:spcPts val="1400"/>
              </a:spcAft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And every single one of my babies learned to sleep. Every single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8100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 i="1">
                <a:solidFill>
                  <a:srgbClr val="4A5568"/>
                </a:solidFill>
                <a:latin typeface="Arial"/>
              </a:defRPr>
            </a:pPr>
            <a:r>
              <a:t>With love and solidarity,</a:t>
            </a:r>
          </a:p>
          <a:p>
            <a:pPr algn="l">
              <a:spcAft>
                <a:spcPts val="600"/>
              </a:spcAft>
              <a:defRPr sz="1100" b="1" i="0">
                <a:solidFill>
                  <a:srgbClr val="C9A84C"/>
                </a:solidFill>
                <a:latin typeface="Georgia"/>
              </a:defRPr>
            </a:pPr>
            <a:r>
              <a:t>— Six &amp; Thriving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9000000"/>
            <a:ext cx="6120000" cy="720000"/>
          </a:xfrm>
          <a:prstGeom prst="roundRect">
            <a:avLst/>
          </a:prstGeom>
          <a:solidFill>
            <a:srgbClr val="FEF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0000" y="9000000"/>
            <a:ext cx="72000" cy="72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6000" y="907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D69E2E"/>
                </a:solidFill>
                <a:latin typeface="Arial"/>
              </a:defRPr>
            </a:pPr>
            <a:r>
              <a:t>TURN THE PAGE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000" y="9288000"/>
            <a:ext cx="5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0D1B3E"/>
                </a:solidFill>
                <a:latin typeface="Arial"/>
              </a:defRPr>
            </a:pPr>
            <a:r>
              <a:t>The awake windows table. This is what you came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Awake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REFERENCE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1116000"/>
            <a:ext cx="61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D1B3E"/>
                </a:solidFill>
                <a:latin typeface="Georgia"/>
              </a:defRPr>
            </a:pPr>
            <a:r>
              <a:t>Awake Windows by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835999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C9A84C"/>
                </a:solidFill>
                <a:latin typeface="Arial"/>
              </a:defRPr>
            </a:pPr>
            <a:r>
              <a:t>Birth to 24 months — at a glance.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2340000"/>
            <a:ext cx="6120000" cy="432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000" y="2448000"/>
            <a:ext cx="126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448000"/>
            <a:ext cx="16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AWAKE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2448000"/>
            <a:ext cx="10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NAPS/DAY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2448000"/>
            <a:ext cx="216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BEDTIME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2772000"/>
            <a:ext cx="6120000" cy="432000"/>
          </a:xfrm>
          <a:prstGeom prst="rect">
            <a:avLst/>
          </a:prstGeom>
          <a:solidFill>
            <a:srgbClr val="FFFFFF"/>
          </a:solidFill>
          <a:ln w="381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000" y="2897999"/>
            <a:ext cx="12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0–6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0000" y="2897999"/>
            <a:ext cx="16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45–60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0" y="2897999"/>
            <a:ext cx="10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4–5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2897999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Variable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3204000"/>
            <a:ext cx="6120000" cy="432000"/>
          </a:xfrm>
          <a:prstGeom prst="rect">
            <a:avLst/>
          </a:prstGeom>
          <a:solidFill>
            <a:srgbClr val="F0EBE1"/>
          </a:solidFill>
          <a:ln w="381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000" y="3329999"/>
            <a:ext cx="12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6–12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0000" y="3329999"/>
            <a:ext cx="16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60–90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0" y="3329999"/>
            <a:ext cx="10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3329999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8–9 pm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" y="3636000"/>
            <a:ext cx="6120000" cy="432000"/>
          </a:xfrm>
          <a:prstGeom prst="rect">
            <a:avLst/>
          </a:prstGeom>
          <a:solidFill>
            <a:srgbClr val="FFFFFF"/>
          </a:solidFill>
          <a:ln w="381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0000" y="3761999"/>
            <a:ext cx="12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3–4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80000" y="3761999"/>
            <a:ext cx="16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90 min – 2 hrs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0000" y="3761999"/>
            <a:ext cx="10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3–4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0000" y="3761999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7:30–8:30 pm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" y="4068000"/>
            <a:ext cx="6120000" cy="432000"/>
          </a:xfrm>
          <a:prstGeom prst="rect">
            <a:avLst/>
          </a:prstGeom>
          <a:solidFill>
            <a:srgbClr val="F0EBE1"/>
          </a:solidFill>
          <a:ln w="381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0000" y="4193999"/>
            <a:ext cx="12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4–6 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0000" y="4193999"/>
            <a:ext cx="16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2 – 2.5 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0000" y="4193999"/>
            <a:ext cx="10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0000" y="4193999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7–8 pm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000" y="4500000"/>
            <a:ext cx="6120000" cy="432000"/>
          </a:xfrm>
          <a:prstGeom prst="rect">
            <a:avLst/>
          </a:prstGeom>
          <a:solidFill>
            <a:srgbClr val="FFFFFF"/>
          </a:solidFill>
          <a:ln w="381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0000" y="4625999"/>
            <a:ext cx="12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6–8 months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0000" y="4625999"/>
            <a:ext cx="16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2.5 – 3 hrs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0" y="4625999"/>
            <a:ext cx="10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2–3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0000" y="4625999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7–8 pm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000" y="4932000"/>
            <a:ext cx="6120000" cy="432000"/>
          </a:xfrm>
          <a:prstGeom prst="rect">
            <a:avLst/>
          </a:prstGeom>
          <a:solidFill>
            <a:srgbClr val="F0EBE1"/>
          </a:solidFill>
          <a:ln w="381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0000" y="5057999"/>
            <a:ext cx="12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8–12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80000" y="5057999"/>
            <a:ext cx="16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3 – 3.5 hrs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00000" y="5057999"/>
            <a:ext cx="10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0000" y="5057999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6:30–7:30 pm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000" y="5364000"/>
            <a:ext cx="6120000" cy="432000"/>
          </a:xfrm>
          <a:prstGeom prst="rect">
            <a:avLst/>
          </a:prstGeom>
          <a:solidFill>
            <a:srgbClr val="FFFFFF"/>
          </a:solidFill>
          <a:ln w="381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0000" y="5489999"/>
            <a:ext cx="12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12–18 months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80000" y="5489999"/>
            <a:ext cx="16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4 – 5 hrs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0" y="5489999"/>
            <a:ext cx="10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1–2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80000" y="5489999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7–7:30 pm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000" y="5796000"/>
            <a:ext cx="6120000" cy="432000"/>
          </a:xfrm>
          <a:prstGeom prst="rect">
            <a:avLst/>
          </a:prstGeom>
          <a:solidFill>
            <a:srgbClr val="F0EBE1"/>
          </a:solidFill>
          <a:ln w="381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0000" y="5921999"/>
            <a:ext cx="12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18–24 months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0000" y="5921999"/>
            <a:ext cx="16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5 – 6 hrs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0000" y="5921999"/>
            <a:ext cx="10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0000" y="5921999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7–7:30 pm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0000" y="6660000"/>
            <a:ext cx="6120000" cy="1152000"/>
          </a:xfrm>
          <a:prstGeom prst="roundRect">
            <a:avLst/>
          </a:prstGeom>
          <a:solidFill>
            <a:srgbClr val="FEF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20000" y="6660000"/>
            <a:ext cx="72000" cy="1152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6000" y="6732000"/>
            <a:ext cx="576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D69E2E"/>
                </a:solidFill>
                <a:latin typeface="Arial"/>
              </a:defRPr>
            </a:pPr>
            <a:r>
              <a:t>THE #1 TIMING MISTAKE PARENTS MAKE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000" y="6983999"/>
            <a:ext cx="576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0D1B3E"/>
                </a:solidFill>
                <a:latin typeface="Arial"/>
              </a:defRPr>
            </a:pPr>
            <a:r>
              <a:t>Putting baby down at a fixed clock time ('we always do 7pm') regardless of when their last nap ended. Always count FORWARD from wake time, not BACKWARD from a target.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0000" y="8100000"/>
            <a:ext cx="6120000" cy="7200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20000" y="8100000"/>
            <a:ext cx="72000" cy="720000"/>
          </a:xfrm>
          <a:prstGeom prst="rect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6000" y="817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D8A8A"/>
                </a:solidFill>
                <a:latin typeface="Arial"/>
              </a:defRPr>
            </a:pPr>
            <a:r>
              <a:t>NEXT PAGE 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6000" y="8388000"/>
            <a:ext cx="5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0D1B3E"/>
                </a:solidFill>
                <a:latin typeface="Arial"/>
              </a:defRPr>
            </a:pPr>
            <a:r>
              <a:t>The 5 reasons your baby is fighting sleep — and how to read their cues.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Why Baby Isn't Sleeping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DIAGNOSE FIRST, FIX 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1116000"/>
            <a:ext cx="612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0D1B3E"/>
                </a:solidFill>
                <a:latin typeface="Georgia"/>
              </a:defRPr>
            </a:pPr>
            <a:r>
              <a:t>5 Reasons Babies Fight Sleep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692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C9A84C"/>
                </a:solidFill>
                <a:latin typeface="Arial"/>
              </a:defRPr>
            </a:pPr>
            <a:r>
              <a:t>Most struggles come from a surprisingly short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088000"/>
            <a:ext cx="1152000" cy="9720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000" y="2340000"/>
            <a:ext cx="1152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Georgia"/>
              </a:defRPr>
            </a:pPr>
            <a:r>
              <a:t>Sleep</a:t>
            </a:r>
            <a:br/>
            <a:r>
              <a:t>Associations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2000" y="2088000"/>
            <a:ext cx="1152000" cy="9720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2000" y="2340000"/>
            <a:ext cx="1152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Georgia"/>
              </a:defRPr>
            </a:pPr>
            <a:r>
              <a:t>Over-</a:t>
            </a:r>
            <a:br/>
            <a:r>
              <a:t>tiredness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4000" y="2088000"/>
            <a:ext cx="1152000" cy="9720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4000" y="2340000"/>
            <a:ext cx="1152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Georgia"/>
              </a:defRPr>
            </a:pPr>
            <a:r>
              <a:t>Under-</a:t>
            </a:r>
            <a:br/>
            <a:r>
              <a:t>tiredness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6000" y="2088000"/>
            <a:ext cx="1152000" cy="972000"/>
          </a:xfrm>
          <a:prstGeom prst="roundRect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46000" y="2340000"/>
            <a:ext cx="1152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Georgia"/>
              </a:defRPr>
            </a:pPr>
            <a:r>
              <a:t>Environment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88000" y="2088000"/>
            <a:ext cx="1152000" cy="972000"/>
          </a:xfrm>
          <a:prstGeom prst="round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88000" y="2340000"/>
            <a:ext cx="1152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Georgia"/>
              </a:defRPr>
            </a:pPr>
            <a:r>
              <a:t>Developmental</a:t>
            </a:r>
            <a:br/>
            <a:r>
              <a:t>Leaps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3348000"/>
            <a:ext cx="61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D1B3E"/>
                </a:solidFill>
                <a:latin typeface="Georgia"/>
              </a:defRPr>
            </a:pPr>
            <a:r>
              <a:t>The #1 Hidden Driver: Sleep Associations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3708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Whatever your baby falls asleep WITH, they will need at every wake-up. Always feed to sleep? They'll need to feed at 1am, 3am, 5am. Always rocked? They'll need rocking at every cycle. This is the #1 reason babies who 'used to sleep great' suddenly start waking — usually around 4 months. It is biology, not manipulation.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4788000"/>
            <a:ext cx="61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D1B3E"/>
                </a:solidFill>
                <a:latin typeface="Georgia"/>
              </a:defRPr>
            </a:pPr>
            <a:r>
              <a:t>Tiredness Cues — The Traffic Light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148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C9A84C"/>
                </a:solidFill>
                <a:latin typeface="Arial"/>
              </a:defRPr>
            </a:pPr>
            <a:r>
              <a:t>Catch your baby at GREEN. By RED, cortisol has kicked 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000" y="5472000"/>
            <a:ext cx="1980000" cy="25200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0000" y="5580000"/>
            <a:ext cx="19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Georgia"/>
              </a:defRPr>
            </a:pPr>
            <a:r>
              <a:t>GREEN LIGHT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" y="6048000"/>
            <a:ext cx="17640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• Slowing down</a:t>
            </a:r>
            <a:br/>
            <a:r>
              <a:t>• Quiet gaze</a:t>
            </a:r>
            <a:br/>
            <a:r>
              <a:t>• Single yawn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000" y="7452000"/>
            <a:ext cx="1692000" cy="432000"/>
          </a:xfrm>
          <a:prstGeom prst="roundRect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4000" y="7523999"/>
            <a:ext cx="169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ACT NOW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90000" y="5472000"/>
            <a:ext cx="1980000" cy="25200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90000" y="5580000"/>
            <a:ext cx="19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Georgia"/>
              </a:defRPr>
            </a:pPr>
            <a:r>
              <a:t>YELLOW LIGHT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98000" y="6048000"/>
            <a:ext cx="17640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• Frequent yawning</a:t>
            </a:r>
            <a:br/>
            <a:r>
              <a:t>• Eye rubbing</a:t>
            </a:r>
            <a:br/>
            <a:r>
              <a:t>• Ear pulling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34000" y="7452000"/>
            <a:ext cx="1692000" cy="432000"/>
          </a:xfrm>
          <a:prstGeom prst="roundRect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34000" y="7523999"/>
            <a:ext cx="169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BEGIN ROUTINE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60000" y="5472000"/>
            <a:ext cx="1980000" cy="252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60000" y="5580000"/>
            <a:ext cx="19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Georgia"/>
              </a:defRPr>
            </a:pPr>
            <a:r>
              <a:t>RED LIGHT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68000" y="6048000"/>
            <a:ext cx="17640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• Crying</a:t>
            </a:r>
            <a:br/>
            <a:r>
              <a:t>• Arching back</a:t>
            </a:r>
            <a:br/>
            <a:r>
              <a:t>• Wired &amp; hyper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04000" y="7452000"/>
            <a:ext cx="1692000" cy="432000"/>
          </a:xfrm>
          <a:prstGeom prst="roundRect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04000" y="7523999"/>
            <a:ext cx="169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DAMAGE CONTROL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0000" y="8280000"/>
            <a:ext cx="6120000" cy="10800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20000" y="8280000"/>
            <a:ext cx="72000" cy="1080000"/>
          </a:xfrm>
          <a:prstGeom prst="rect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000" y="835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D8A8A"/>
                </a:solidFill>
                <a:latin typeface="Arial"/>
              </a:defRPr>
            </a:pPr>
            <a:r>
              <a:t>STAGE 1 IS YOUR 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000" y="8568000"/>
            <a:ext cx="576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0D1B3E"/>
                </a:solidFill>
                <a:latin typeface="Arial"/>
              </a:defRPr>
            </a:pPr>
            <a:r>
              <a:t>Most parents only catch RED — by then you're in damage control. The full book teaches you to catch GREEN every time. Turn the page for tonight's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Tonight's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DO THESE TONIGHT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1116000"/>
            <a:ext cx="612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0D1B3E"/>
                </a:solidFill>
                <a:latin typeface="Georgia"/>
              </a:defRPr>
            </a:pPr>
            <a:r>
              <a:t>Tonight's 6-Step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692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C9A84C"/>
                </a:solidFill>
                <a:latin typeface="Arial"/>
              </a:defRPr>
            </a:pPr>
            <a:r>
              <a:t>If you read nothing else, do these six things tonight.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160000"/>
            <a:ext cx="6120000" cy="93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4000" y="2376000"/>
            <a:ext cx="503999" cy="503999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000" y="2411999"/>
            <a:ext cx="503999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8000" y="2304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Check the 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8000" y="2628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Pitch black? White noise running? 68–72°F / 20–22°C?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3204000"/>
            <a:ext cx="6120000" cy="93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4000" y="3420000"/>
            <a:ext cx="503999" cy="503999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000" y="3455999"/>
            <a:ext cx="503999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8000" y="3348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Find the awake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8000" y="3672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Use the table on page 3. Set a timer.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000" y="4248000"/>
            <a:ext cx="6120000" cy="93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4000" y="4464000"/>
            <a:ext cx="503999" cy="503999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4000" y="4499999"/>
            <a:ext cx="503999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8000" y="4392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Write the bedtime routine — IN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8000" y="4716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Bath → lotion → pyjamas → feed → song → crib awake.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000" y="5292000"/>
            <a:ext cx="6120000" cy="93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4000" y="5508000"/>
            <a:ext cx="503999" cy="503999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000" y="5543999"/>
            <a:ext cx="503999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8000" y="5436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Decide your response plan BEFORE the night starts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8000" y="5760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Your 2 a.m. brain won't make good decisions. Write it down.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6336000"/>
            <a:ext cx="6120000" cy="93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64000" y="6552000"/>
            <a:ext cx="503999" cy="503999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000" y="6587999"/>
            <a:ext cx="503999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48000" y="6480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Pause before you go 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8000" y="6804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Wait 2–3 minutes when you hear a sound. Many babies resettle.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0000" y="7380000"/>
            <a:ext cx="6120000" cy="93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64000" y="7596000"/>
            <a:ext cx="503999" cy="503999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4000" y="7631999"/>
            <a:ext cx="503999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48000" y="7524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Crib AWAKE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48000" y="7848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Drowsy is fine. Asleep is not. This single skill changes everything.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000" y="8820000"/>
            <a:ext cx="6120000" cy="900000"/>
          </a:xfrm>
          <a:prstGeom prst="roundRect">
            <a:avLst/>
          </a:prstGeom>
          <a:solidFill>
            <a:srgbClr val="FEF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20000" y="8820000"/>
            <a:ext cx="72000" cy="90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6000" y="889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D69E2E"/>
                </a:solidFill>
                <a:latin typeface="Arial"/>
              </a:defRPr>
            </a:pPr>
            <a:r>
              <a:t>DONE IS BETTER THAN PERFECT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000" y="9108000"/>
            <a:ext cx="576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0D1B3E"/>
                </a:solidFill>
                <a:latin typeface="Arial"/>
              </a:defRPr>
            </a:pPr>
            <a:r>
              <a:t>Pick ONE thing from this list and do it tonight. Progress starts with a single consistent step — not all six executed flawlessly.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00000" y="-1080000"/>
            <a:ext cx="4320000" cy="4320000"/>
          </a:xfrm>
          <a:prstGeom prst="ellipse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40000" y="7200000"/>
            <a:ext cx="2880000" cy="2880000"/>
          </a:xfrm>
          <a:prstGeom prst="ellipse">
            <a:avLst/>
          </a:prstGeom>
          <a:solidFill>
            <a:srgbClr val="16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0000" cy="14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548000"/>
            <a:ext cx="7560000" cy="14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ONE LAST THING — THE MOST IMPORTANT 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98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Nobody talks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88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 i="1">
                <a:solidFill>
                  <a:srgbClr val="C9A84C"/>
                </a:solidFill>
                <a:latin typeface="Georgia"/>
              </a:defRPr>
            </a:pPr>
            <a:r>
              <a:t>about Night 3.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0000" y="3960000"/>
            <a:ext cx="144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" y="4248000"/>
            <a:ext cx="61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50" b="0" i="0">
                <a:solidFill>
                  <a:srgbClr val="F0EBE1"/>
                </a:solidFill>
                <a:latin typeface="Arial"/>
              </a:defRPr>
            </a:pPr>
            <a:r>
              <a:t>Night 3 is the hardest night of sleep training. Not because the method is failing — because it is WORKING. When a previously reinforced behavior stops being rewarded, it escalates dramatically before it disappears.</a:t>
            </a:r>
          </a:p>
          <a:p>
            <a:pPr algn="ctr">
              <a:spcAft>
                <a:spcPts val="1400"/>
              </a:spcAft>
              <a:defRPr sz="1150" b="0" i="0">
                <a:solidFill>
                  <a:srgbClr val="F0EBE1"/>
                </a:solidFill>
                <a:latin typeface="Arial"/>
              </a:defRPr>
            </a:pPr>
            <a:r>
              <a:t>It's called the extinction burst. Every other guide either skips it or buries it. The full book names it, maps it night-by-night, and walks you through it.</a:t>
            </a:r>
          </a:p>
          <a:p>
            <a:pPr algn="ctr">
              <a:spcAft>
                <a:spcPts val="600"/>
              </a:spcAft>
              <a:defRPr sz="1300" b="1" i="1">
                <a:solidFill>
                  <a:srgbClr val="E8C97A"/>
                </a:solidFill>
                <a:latin typeface="Georgia"/>
              </a:defRPr>
            </a:pPr>
            <a:r>
              <a:t>It's the most important thing nobody told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7020000"/>
            <a:ext cx="6120000" cy="2160000"/>
          </a:xfrm>
          <a:prstGeom prst="round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0000" y="7092000"/>
            <a:ext cx="54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0000" y="9108000"/>
            <a:ext cx="54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7200000"/>
            <a:ext cx="61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0D1B3E"/>
                </a:solidFill>
                <a:latin typeface="Georgia"/>
              </a:defRPr>
            </a:pPr>
            <a:r>
              <a:t>Want the full plan?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7632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4A5568"/>
                </a:solidFill>
                <a:latin typeface="Arial"/>
              </a:defRPr>
            </a:pPr>
            <a:r>
              <a:t>Sleep, Baby. Please. — the 59-page evidence-based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7992000"/>
            <a:ext cx="19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D1B3E"/>
                </a:solidFill>
                <a:latin typeface="Arial"/>
              </a:defRPr>
            </a:pPr>
            <a:r>
              <a:t>✦  The full 7-night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6000" y="7992000"/>
            <a:ext cx="19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D1B3E"/>
                </a:solidFill>
                <a:latin typeface="Arial"/>
              </a:defRPr>
            </a:pPr>
            <a:r>
              <a:t>✦  Every method explained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000" y="7992000"/>
            <a:ext cx="198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D1B3E"/>
                </a:solidFill>
                <a:latin typeface="Arial"/>
              </a:defRPr>
            </a:pPr>
            <a:r>
              <a:t>✦  The Six Sleep Personalities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0000" y="8388000"/>
            <a:ext cx="3240000" cy="4680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60000" y="8395015"/>
            <a:ext cx="3240000" cy="453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Arial"/>
              </a:defRPr>
            </a:pPr>
            <a:r>
              <a:rPr dirty="0"/>
              <a:t>GET THE BOOK  → </a:t>
            </a:r>
            <a:r>
              <a:rPr lang="en-CA" dirty="0"/>
              <a:t>$</a:t>
            </a:r>
            <a:r>
              <a:rPr lang="en-CA" sz="1300" dirty="0"/>
              <a:t>19</a:t>
            </a:r>
            <a:r>
              <a:rPr lang="en-CA" sz="1000" dirty="0"/>
              <a:t> (Launch Discount)</a:t>
            </a:r>
            <a:endParaRPr lang="en-CA" dirty="0"/>
          </a:p>
          <a:p>
            <a:pPr algn="ctr">
              <a:defRPr sz="1300" b="1" i="0">
                <a:solidFill>
                  <a:srgbClr val="C9A84C"/>
                </a:solidFill>
                <a:latin typeface="Arial"/>
              </a:defRPr>
            </a:pPr>
            <a:r>
              <a:rPr lang="en-CA" sz="1050" dirty="0"/>
              <a:t>After launch , goes back to $29 </a:t>
            </a:r>
            <a:endParaRPr sz="1050" dirty="0"/>
          </a:p>
        </p:txBody>
      </p:sp>
      <p:sp>
        <p:nvSpPr>
          <p:cNvPr id="21" name="TextBox 20"/>
          <p:cNvSpPr txBox="1"/>
          <p:nvPr/>
        </p:nvSpPr>
        <p:spPr>
          <a:xfrm>
            <a:off x="720000" y="8946000"/>
            <a:ext cx="61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www.sixandthriving.com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954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E8C97A"/>
                </a:solidFill>
                <a:latin typeface="Georgia"/>
              </a:defRPr>
            </a:pPr>
            <a:r>
              <a:t>Sleep is coming. For both of you.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9792000"/>
            <a:ext cx="61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C9A84C"/>
                </a:solidFill>
                <a:latin typeface="Georgia"/>
              </a:defRPr>
            </a:pPr>
            <a:r>
              <a:t>— Six &amp; Thriving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08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0D1B3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E8C97A"/>
                </a:solidFill>
                <a:latin typeface="Arial"/>
              </a:defRPr>
            </a:pPr>
            <a:r>
              <a:t>www.sixandthriving.com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1065</Words>
  <Application>Microsoft Office PowerPoint</Application>
  <PresentationFormat>Custom</PresentationFormat>
  <Paragraphs>155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Deji Olabooye</cp:lastModifiedBy>
  <cp:revision>2</cp:revision>
  <dcterms:created xsi:type="dcterms:W3CDTF">2013-01-27T09:14:16Z</dcterms:created>
  <dcterms:modified xsi:type="dcterms:W3CDTF">2026-05-27T10:27:03Z</dcterms:modified>
  <cp:category/>
</cp:coreProperties>
</file>