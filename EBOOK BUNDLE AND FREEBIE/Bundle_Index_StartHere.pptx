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46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0"/>
            <a:ext cx="756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28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 i="0">
                <a:solidFill>
                  <a:srgbClr val="FAF7F2"/>
                </a:solidFill>
                <a:latin typeface="Georgia"/>
              </a:defRPr>
            </a:pPr>
            <a:r>
              <a:t>Sleep, Baby. Please.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0" y="108000"/>
            <a:ext cx="28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 i="0">
                <a:solidFill>
                  <a:srgbClr val="E8C97A"/>
                </a:solidFill>
                <a:latin typeface="Arial"/>
              </a:defRPr>
            </a:pPr>
            <a:r>
              <a:t>START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116000"/>
            <a:ext cx="7560000" cy="576000"/>
          </a:xfrm>
          <a:prstGeom prst="rect">
            <a:avLst/>
          </a:prstGeom>
          <a:solidFill>
            <a:srgbClr val="F0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080000"/>
            <a:ext cx="7560000" cy="3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56000" y="10188000"/>
            <a:ext cx="468000" cy="468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000" y="10224000"/>
            <a:ext cx="468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10224000"/>
            <a:ext cx="252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0">
                <a:solidFill>
                  <a:srgbClr val="718096"/>
                </a:solidFill>
                <a:latin typeface="Arial"/>
              </a:defRPr>
            </a:pPr>
            <a:r>
              <a:t>Six &amp; Thriving  •  www.sixandthriving.com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0" y="10224000"/>
            <a:ext cx="23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 i="0">
                <a:solidFill>
                  <a:srgbClr val="718096"/>
                </a:solidFill>
                <a:latin typeface="Arial"/>
              </a:defRPr>
            </a:pPr>
            <a:r>
              <a:t>© 2026 Six &amp; Thriving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792000"/>
            <a:ext cx="540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C9A84C"/>
                </a:solidFill>
                <a:latin typeface="Arial"/>
              </a:defRPr>
            </a:pPr>
            <a:r>
              <a:t>READ THIS FIRST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972000"/>
            <a:ext cx="612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1152000"/>
            <a:ext cx="61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0D1B3E"/>
                </a:solidFill>
                <a:latin typeface="Georgia"/>
              </a:defRPr>
            </a:pPr>
            <a:r>
              <a:t>Welcome to Your</a:t>
            </a:r>
            <a:br/>
            <a:r>
              <a:t>Sleep Bundle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2160000"/>
            <a:ext cx="61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1">
                <a:solidFill>
                  <a:srgbClr val="C9A84C"/>
                </a:solidFill>
                <a:latin typeface="Arial"/>
              </a:defRPr>
            </a:pPr>
            <a:r>
              <a:t>Everything you need to get your baby sleeping — in the right order.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0000" y="2520000"/>
            <a:ext cx="6120000" cy="1007999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0000" y="2520000"/>
            <a:ext cx="72000" cy="1007999"/>
          </a:xfrm>
          <a:prstGeom prst="rect">
            <a:avLst/>
          </a:prstGeom>
          <a:solidFill>
            <a:srgbClr val="2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6000" y="2592000"/>
            <a:ext cx="576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 i="0">
                <a:solidFill>
                  <a:srgbClr val="2D8A8A"/>
                </a:solidFill>
                <a:latin typeface="Arial"/>
              </a:defRPr>
            </a:pPr>
            <a:r>
              <a:t>DON'T FEEL OVERWHELMED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000" y="2771999"/>
            <a:ext cx="5760000" cy="68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0D1B3E"/>
                </a:solidFill>
                <a:latin typeface="Arial"/>
              </a:defRPr>
            </a:pPr>
            <a:r>
              <a:t>You have 7 files. Each one has a clear purpose. This page tells you exactly what to open first — based on YOUR situation tonight.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3780000"/>
            <a:ext cx="612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D1B3E"/>
                </a:solidFill>
                <a:latin typeface="Georgia"/>
              </a:defRPr>
            </a:pPr>
            <a:r>
              <a:t>YOUR BUNDLE INCLUDES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0" y="3780000"/>
            <a:ext cx="25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1">
                <a:solidFill>
                  <a:srgbClr val="C9A84C"/>
                </a:solidFill>
                <a:latin typeface="Arial"/>
              </a:defRPr>
            </a:pPr>
            <a:r>
              <a:t>7 premium tools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" y="4068000"/>
            <a:ext cx="612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0000" y="4320000"/>
            <a:ext cx="6120000" cy="648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4000" y="4445999"/>
            <a:ext cx="396000" cy="396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000" y="4464000"/>
            <a:ext cx="39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C9A84C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68000" y="4392000"/>
            <a:ext cx="504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0D1B3E"/>
                </a:solidFill>
                <a:latin typeface="Arial"/>
              </a:defRPr>
            </a:pPr>
            <a:r>
              <a:t>The Main eBook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68000" y="4644000"/>
            <a:ext cx="504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1">
                <a:solidFill>
                  <a:srgbClr val="4A5568"/>
                </a:solidFill>
                <a:latin typeface="Arial"/>
              </a:defRPr>
            </a:pPr>
            <a:r>
              <a:t>Sleep, Baby. Please. — 59 pages, 15 chapters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0000" y="5040000"/>
            <a:ext cx="6120000" cy="648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4000" y="5165999"/>
            <a:ext cx="396000" cy="396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000" y="5184000"/>
            <a:ext cx="39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C9A84C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68000" y="5112000"/>
            <a:ext cx="504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0D1B3E"/>
                </a:solidFill>
                <a:latin typeface="Arial"/>
              </a:defRPr>
            </a:pPr>
            <a:r>
              <a:t>7-Night Sleep Tracker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68000" y="5364000"/>
            <a:ext cx="504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1">
                <a:solidFill>
                  <a:srgbClr val="4A5568"/>
                </a:solidFill>
                <a:latin typeface="Arial"/>
              </a:defRPr>
            </a:pPr>
            <a:r>
              <a:t>Fill in each morning. See the progress by Day 4.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0000" y="5760000"/>
            <a:ext cx="6120000" cy="648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4000" y="5885999"/>
            <a:ext cx="396000" cy="396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000" y="5904000"/>
            <a:ext cx="39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C9A84C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68000" y="5832000"/>
            <a:ext cx="504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0D1B3E"/>
                </a:solidFill>
                <a:latin typeface="Arial"/>
              </a:defRPr>
            </a:pPr>
            <a:r>
              <a:t>Bedtime Routine Builder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68000" y="6084000"/>
            <a:ext cx="504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1">
                <a:solidFill>
                  <a:srgbClr val="4A5568"/>
                </a:solidFill>
                <a:latin typeface="Arial"/>
              </a:defRPr>
            </a:pPr>
            <a:r>
              <a:t>Write it once. Stick it on the door. Use every night.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0000" y="6480000"/>
            <a:ext cx="6120000" cy="648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64000" y="6605999"/>
            <a:ext cx="396000" cy="396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000" y="6624000"/>
            <a:ext cx="39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C9A84C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68000" y="6552000"/>
            <a:ext cx="504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0D1B3E"/>
                </a:solidFill>
                <a:latin typeface="Arial"/>
              </a:defRPr>
            </a:pPr>
            <a:r>
              <a:t>Six Sleep Personalities Kit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68000" y="6804000"/>
            <a:ext cx="504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1">
                <a:solidFill>
                  <a:srgbClr val="4A5568"/>
                </a:solidFill>
                <a:latin typeface="Arial"/>
              </a:defRPr>
            </a:pPr>
            <a:r>
              <a:t>Find YOUR baby's type in 5 minutes.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0000" y="7200000"/>
            <a:ext cx="6120000" cy="648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000" y="7325999"/>
            <a:ext cx="396000" cy="396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4000" y="7344000"/>
            <a:ext cx="39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C9A84C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68000" y="7272000"/>
            <a:ext cx="504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0D1B3E"/>
                </a:solidFill>
                <a:latin typeface="Arial"/>
              </a:defRPr>
            </a:pPr>
            <a:r>
              <a:t>Reset Protocol Worksheet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68000" y="7524000"/>
            <a:ext cx="504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1">
                <a:solidFill>
                  <a:srgbClr val="4A5568"/>
                </a:solidFill>
                <a:latin typeface="Arial"/>
              </a:defRPr>
            </a:pPr>
            <a:r>
              <a:t>For parents who tried before. Start here.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0000" y="7920000"/>
            <a:ext cx="6120000" cy="648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64000" y="8045999"/>
            <a:ext cx="396000" cy="396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4000" y="8064000"/>
            <a:ext cx="39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C9A84C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68000" y="7992000"/>
            <a:ext cx="504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0D1B3E"/>
                </a:solidFill>
                <a:latin typeface="Arial"/>
              </a:defRPr>
            </a:pPr>
            <a:r>
              <a:t>Mom Referral Card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68000" y="8244000"/>
            <a:ext cx="504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1">
                <a:solidFill>
                  <a:srgbClr val="4A5568"/>
                </a:solidFill>
                <a:latin typeface="Arial"/>
              </a:defRPr>
            </a:pPr>
            <a:r>
              <a:t>Share with a friend who needs this.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0000" y="8640000"/>
            <a:ext cx="6120000" cy="648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64000" y="8765999"/>
            <a:ext cx="396000" cy="396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4000" y="8784000"/>
            <a:ext cx="39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C9A84C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68000" y="8712000"/>
            <a:ext cx="504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0D1B3E"/>
                </a:solidFill>
                <a:latin typeface="Arial"/>
              </a:defRPr>
            </a:pPr>
            <a:r>
              <a:t>This Guide (Start Here)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68000" y="8964000"/>
            <a:ext cx="504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1">
                <a:solidFill>
                  <a:srgbClr val="4A5568"/>
                </a:solidFill>
                <a:latin typeface="Arial"/>
              </a:defRPr>
            </a:pPr>
            <a:r>
              <a:t>You're reading it. You're in the right place.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20000" y="9360000"/>
            <a:ext cx="6120000" cy="648000"/>
          </a:xfrm>
          <a:prstGeom prst="roundRect">
            <a:avLst/>
          </a:prstGeom>
          <a:solidFill>
            <a:srgbClr val="FEF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0000" y="9360000"/>
            <a:ext cx="72000" cy="64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6000" y="9432000"/>
            <a:ext cx="576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 i="0">
                <a:solidFill>
                  <a:srgbClr val="C9A84C"/>
                </a:solidFill>
                <a:latin typeface="Arial"/>
              </a:defRPr>
            </a:pPr>
            <a:r>
              <a:t>THAT'S IT. 7 FILES.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6000" y="9611999"/>
            <a:ext cx="57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0D1B3E"/>
                </a:solidFill>
                <a:latin typeface="Arial"/>
              </a:defRPr>
            </a:pPr>
            <a:r>
              <a:t>No overwhelm. No filler. Each one earns its place. Open the ebook first — everything else supports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46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0"/>
            <a:ext cx="756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28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 i="0">
                <a:solidFill>
                  <a:srgbClr val="FAF7F2"/>
                </a:solidFill>
                <a:latin typeface="Georgia"/>
              </a:defRPr>
            </a:pPr>
            <a:r>
              <a:t>Sleep, Baby. Please.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0" y="108000"/>
            <a:ext cx="28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 i="0">
                <a:solidFill>
                  <a:srgbClr val="E8C97A"/>
                </a:solidFill>
                <a:latin typeface="Arial"/>
              </a:defRPr>
            </a:pPr>
            <a:r>
              <a:t>Where to 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116000"/>
            <a:ext cx="7560000" cy="576000"/>
          </a:xfrm>
          <a:prstGeom prst="rect">
            <a:avLst/>
          </a:prstGeom>
          <a:solidFill>
            <a:srgbClr val="F0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080000"/>
            <a:ext cx="7560000" cy="3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56000" y="10188000"/>
            <a:ext cx="468000" cy="468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000" y="10224000"/>
            <a:ext cx="468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10224000"/>
            <a:ext cx="252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0">
                <a:solidFill>
                  <a:srgbClr val="718096"/>
                </a:solidFill>
                <a:latin typeface="Arial"/>
              </a:defRPr>
            </a:pPr>
            <a:r>
              <a:t>Six &amp; Thriving  •  www.sixandthriving.com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0" y="10224000"/>
            <a:ext cx="23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 i="0">
                <a:solidFill>
                  <a:srgbClr val="718096"/>
                </a:solidFill>
                <a:latin typeface="Arial"/>
              </a:defRPr>
            </a:pPr>
            <a:r>
              <a:t>© 2026 Six &amp; Thriving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792000"/>
            <a:ext cx="540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C9A84C"/>
                </a:solidFill>
                <a:latin typeface="Arial"/>
              </a:defRPr>
            </a:pPr>
            <a:r>
              <a:t>PICK YOUR SITUATION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972000"/>
            <a:ext cx="612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1152000"/>
            <a:ext cx="61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0D1B3E"/>
                </a:solidFill>
                <a:latin typeface="Georgia"/>
              </a:defRPr>
            </a:pPr>
            <a:r>
              <a:t>Where to Start Tonight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1800000"/>
            <a:ext cx="61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1">
                <a:solidFill>
                  <a:srgbClr val="C9A84C"/>
                </a:solidFill>
                <a:latin typeface="Arial"/>
              </a:defRPr>
            </a:pPr>
            <a:r>
              <a:t>Find the card that sounds like you. Do those steps.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0000" y="2232000"/>
            <a:ext cx="2951999" cy="306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0000" y="2232000"/>
            <a:ext cx="2951999" cy="5400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0000" y="2700000"/>
            <a:ext cx="2951999" cy="10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2340000"/>
            <a:ext cx="295199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IT'S 2AM RIGHT NOW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000" y="3024000"/>
            <a:ext cx="2591999" cy="21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4A5568"/>
                </a:solidFill>
                <a:latin typeface="Arial"/>
              </a:defRPr>
            </a:pPr>
            <a:r>
              <a:t>1. Read the Fast-Track page (page 5 of the ebook)</a:t>
            </a:r>
            <a:br/>
            <a:r>
              <a:t>2. Do the 6 steps tonight</a:t>
            </a:r>
            <a:br/>
            <a:r>
              <a:t>3. Read the rest tomorrow when you've slept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80000" y="2232000"/>
            <a:ext cx="2951999" cy="306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780000" y="2232000"/>
            <a:ext cx="2951999" cy="540000"/>
          </a:xfrm>
          <a:prstGeom prst="roundRect">
            <a:avLst/>
          </a:prstGeom>
          <a:solidFill>
            <a:srgbClr val="2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80000" y="2700000"/>
            <a:ext cx="2951999" cy="108000"/>
          </a:xfrm>
          <a:prstGeom prst="rect">
            <a:avLst/>
          </a:prstGeom>
          <a:solidFill>
            <a:srgbClr val="2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80000" y="2340000"/>
            <a:ext cx="295199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I HAVE A PLAN — STARTING TONIGHT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60000" y="3024000"/>
            <a:ext cx="2591999" cy="21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4A5568"/>
                </a:solidFill>
                <a:latin typeface="Arial"/>
              </a:defRPr>
            </a:pPr>
            <a:r>
              <a:t>1. Read Chapters 1–4 of the ebook</a:t>
            </a:r>
            <a:br/>
            <a:r>
              <a:t>2. Fill in the Bedtime Routine Builder</a:t>
            </a:r>
            <a:br/>
            <a:r>
              <a:t>3. Start the 7-Night Tracker tomorrow morning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0000" y="5580000"/>
            <a:ext cx="2951999" cy="306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0000" y="5580000"/>
            <a:ext cx="2951999" cy="5400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0000" y="6048000"/>
            <a:ext cx="2951999" cy="108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0000" y="5688000"/>
            <a:ext cx="295199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I'VE TRIED BEFORE — IT FAILED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000" y="6372000"/>
            <a:ext cx="2591999" cy="21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4A5568"/>
                </a:solidFill>
                <a:latin typeface="Arial"/>
              </a:defRPr>
            </a:pPr>
            <a:r>
              <a:t>1. Open the Reset Protocol Worksheet</a:t>
            </a:r>
            <a:br/>
            <a:r>
              <a:t>2. Diagnose your root cause (5 options)</a:t>
            </a:r>
            <a:br/>
            <a:r>
              <a:t>3. Read Chapter 7 of the ebook</a:t>
            </a:r>
            <a:br/>
            <a:r>
              <a:t>4. Commit to 5 nights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80000" y="5580000"/>
            <a:ext cx="2951999" cy="306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3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780000" y="5580000"/>
            <a:ext cx="2951999" cy="540000"/>
          </a:xfrm>
          <a:prstGeom prst="roundRect">
            <a:avLst/>
          </a:prstGeom>
          <a:solidFill>
            <a:srgbClr val="55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80000" y="6048000"/>
            <a:ext cx="2951999" cy="10800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80000" y="5688000"/>
            <a:ext cx="295199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I WANT TO KNOW MY BABY'S 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60000" y="6372000"/>
            <a:ext cx="2591999" cy="21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4A5568"/>
                </a:solidFill>
                <a:latin typeface="Arial"/>
              </a:defRPr>
            </a:pPr>
            <a:r>
              <a:t>1. Open the Six Sleep Personalities Kit</a:t>
            </a:r>
            <a:br/>
            <a:r>
              <a:t>2. Find your baby's type (5 minutes)</a:t>
            </a:r>
            <a:br/>
            <a:r>
              <a:t>3. Read the matching strategy in Chapter 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0000" y="9000000"/>
            <a:ext cx="6120000" cy="900000"/>
          </a:xfrm>
          <a:prstGeom prst="roundRect">
            <a:avLst/>
          </a:prstGeom>
          <a:solidFill>
            <a:srgbClr val="FEF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0000" y="9000000"/>
            <a:ext cx="72000" cy="90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6000" y="9072000"/>
            <a:ext cx="576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 i="0">
                <a:solidFill>
                  <a:srgbClr val="C9A84C"/>
                </a:solidFill>
                <a:latin typeface="Arial"/>
              </a:defRPr>
            </a:pPr>
            <a:r>
              <a:t>ONE THING AT A 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6000" y="9251999"/>
            <a:ext cx="5760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0D1B3E"/>
                </a:solidFill>
                <a:latin typeface="Arial"/>
              </a:defRPr>
            </a:pPr>
            <a:r>
              <a:t>Don't try to use everything at once. Pick ONE card. Do those steps. Come back next week for the next layer.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