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00000" y="-1080000"/>
            <a:ext cx="4320000" cy="4320000"/>
          </a:xfrm>
          <a:prstGeom prst="ellipse">
            <a:avLst/>
          </a:prstGeom>
          <a:solidFill>
            <a:srgbClr val="1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40000" y="7200000"/>
            <a:ext cx="2880000" cy="2880000"/>
          </a:xfrm>
          <a:prstGeom prst="ellipse">
            <a:avLst/>
          </a:prstGeom>
          <a:solidFill>
            <a:srgbClr val="16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0000" cy="18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2000"/>
            <a:ext cx="7560000" cy="18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580000" y="900000"/>
            <a:ext cx="1260000" cy="12600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0000" y="1152000"/>
            <a:ext cx="12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 i="0">
                <a:solidFill>
                  <a:srgbClr val="0D1B3E"/>
                </a:solidFill>
                <a:latin typeface="Georgia"/>
              </a:defRPr>
            </a:pPr>
            <a: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0000" y="1512000"/>
            <a:ext cx="126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0D1B3E"/>
                </a:solidFill>
                <a:latin typeface="Arial"/>
              </a:defRPr>
            </a:pPr>
            <a:r>
              <a:t>RESET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1620000"/>
            <a:ext cx="46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C9A84C"/>
                </a:solidFill>
                <a:latin typeface="Arial"/>
              </a:defRPr>
            </a:pPr>
            <a:r>
              <a:t>FROM CHAPTER 7 OF SLEEP, BABY. PLEASE.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1908000"/>
            <a:ext cx="25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880000"/>
            <a:ext cx="612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The Reset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960000"/>
            <a:ext cx="612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1" i="1">
                <a:solidFill>
                  <a:srgbClr val="C9A84C"/>
                </a:solidFill>
                <a:latin typeface="Georgia"/>
              </a:defRPr>
            </a:pPr>
            <a:r>
              <a:t>Protocol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5148000"/>
            <a:ext cx="25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08000" y="5094000"/>
            <a:ext cx="144000" cy="1440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5472000"/>
            <a:ext cx="61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F0EBE1"/>
                </a:solidFill>
                <a:latin typeface="Arial"/>
              </a:defRPr>
            </a:pPr>
            <a:r>
              <a:t>For the mom who tried before</a:t>
            </a:r>
          </a:p>
          <a:p>
            <a:pPr algn="l">
              <a:spcAft>
                <a:spcPts val="600"/>
              </a:spcAft>
              <a:defRPr sz="1300" b="0" i="0">
                <a:solidFill>
                  <a:srgbClr val="F0EBE1"/>
                </a:solidFill>
                <a:latin typeface="Arial"/>
              </a:defRPr>
            </a:pPr>
            <a:r>
              <a:t>and watched it fall apart by Night 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6660000"/>
            <a:ext cx="61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100" b="0" i="0">
                <a:solidFill>
                  <a:srgbClr val="E8C97A"/>
                </a:solidFill>
                <a:latin typeface="Arial"/>
              </a:defRPr>
            </a:pPr>
            <a:r>
              <a:t>✦  The 5 most common reasons sleep training fails</a:t>
            </a:r>
          </a:p>
          <a:p>
            <a:pPr algn="l">
              <a:spcAft>
                <a:spcPts val="800"/>
              </a:spcAft>
              <a:defRPr sz="1100" b="0" i="0">
                <a:solidFill>
                  <a:srgbClr val="E8C97A"/>
                </a:solidFill>
                <a:latin typeface="Arial"/>
              </a:defRPr>
            </a:pPr>
            <a:r>
              <a:t>✦  The diagnostic that tells you which one it was</a:t>
            </a:r>
          </a:p>
          <a:p>
            <a:pPr algn="l">
              <a:spcAft>
                <a:spcPts val="800"/>
              </a:spcAft>
              <a:defRPr sz="1100" b="0" i="0">
                <a:solidFill>
                  <a:srgbClr val="E8C97A"/>
                </a:solidFill>
                <a:latin typeface="Arial"/>
              </a:defRPr>
            </a:pPr>
            <a:r>
              <a:t>✦  The 5-step reset + 5-night tracker (printable)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8640000"/>
            <a:ext cx="25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000" y="8820000"/>
            <a:ext cx="612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SIX  &amp;  THRIVING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9252000"/>
            <a:ext cx="612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1">
                <a:solidFill>
                  <a:srgbClr val="E8C97A"/>
                </a:solidFill>
                <a:latin typeface="Arial"/>
              </a:defRPr>
            </a:pPr>
            <a:r>
              <a:t>Mother of Six — I've Restarted Twice Myself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10260000"/>
            <a:ext cx="756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C9A84C"/>
                </a:solidFill>
                <a:latin typeface="Arial"/>
              </a:defRPr>
            </a:pPr>
            <a:r>
              <a:t>www.sixandthriving.com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46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0"/>
            <a:ext cx="756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28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 i="0">
                <a:solidFill>
                  <a:srgbClr val="FAF7F2"/>
                </a:solidFill>
                <a:latin typeface="Georgia"/>
              </a:defRPr>
            </a:pPr>
            <a:r>
              <a:t>Sleep, Baby. Please.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0" y="108000"/>
            <a:ext cx="28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 i="0">
                <a:solidFill>
                  <a:srgbClr val="E8C97A"/>
                </a:solidFill>
                <a:latin typeface="Arial"/>
              </a:defRPr>
            </a:pPr>
            <a:r>
              <a:t>Why It Failed Last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16000"/>
            <a:ext cx="7560000" cy="576000"/>
          </a:xfrm>
          <a:prstGeom prst="rect">
            <a:avLst/>
          </a:prstGeom>
          <a:solidFill>
            <a:srgbClr val="F0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080000"/>
            <a:ext cx="7560000" cy="3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56000" y="10188000"/>
            <a:ext cx="468000" cy="468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000" y="10224000"/>
            <a:ext cx="468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10224000"/>
            <a:ext cx="252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0">
                <a:solidFill>
                  <a:srgbClr val="718096"/>
                </a:solidFill>
                <a:latin typeface="Arial"/>
              </a:defRPr>
            </a:pPr>
            <a:r>
              <a:t>Six &amp; Thriving  •  www.sixandthriving.com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0" y="10224000"/>
            <a:ext cx="23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 i="0">
                <a:solidFill>
                  <a:srgbClr val="718096"/>
                </a:solidFill>
                <a:latin typeface="Arial"/>
              </a:defRPr>
            </a:pPr>
            <a:r>
              <a:t>© 2026 Six &amp; Thriving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792000"/>
            <a:ext cx="540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C9A84C"/>
                </a:solidFill>
                <a:latin typeface="Arial"/>
              </a:defRPr>
            </a:pPr>
            <a:r>
              <a:t>BEFORE WE FIX IT — A FEW WORDS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972000"/>
            <a:ext cx="61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1152000"/>
            <a:ext cx="612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0D1B3E"/>
                </a:solidFill>
                <a:latin typeface="Georgia"/>
              </a:defRPr>
            </a:pPr>
            <a:r>
              <a:t>You're not starting</a:t>
            </a:r>
            <a:br/>
            <a:r>
              <a:t>from zero.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2592000"/>
            <a:ext cx="108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2880000"/>
            <a:ext cx="612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100" b="0" i="0">
                <a:solidFill>
                  <a:srgbClr val="4A5568"/>
                </a:solidFill>
                <a:latin typeface="Arial"/>
              </a:defRPr>
            </a:pPr>
            <a:r>
              <a:t>If you're reading this, you've tried sleep training before. You read a book. You started a method. You held the line for 2 nights, maybe 3. Then something happened — and the wheels came off.</a:t>
            </a:r>
          </a:p>
          <a:p>
            <a:pPr algn="l">
              <a:spcAft>
                <a:spcPts val="1000"/>
              </a:spcAft>
              <a:defRPr sz="1100" b="1" i="0">
                <a:solidFill>
                  <a:srgbClr val="0D1B3E"/>
                </a:solidFill>
                <a:latin typeface="Arial"/>
              </a:defRPr>
            </a:pPr>
            <a:r>
              <a:t>Here's what I want you to know first:</a:t>
            </a:r>
          </a:p>
          <a:p>
            <a:pPr algn="l">
              <a:spcAft>
                <a:spcPts val="1400"/>
              </a:spcAft>
              <a:defRPr sz="1300" b="1" i="1">
                <a:solidFill>
                  <a:srgbClr val="C9A84C"/>
                </a:solidFill>
                <a:latin typeface="Georgia"/>
              </a:defRPr>
            </a:pPr>
            <a:r>
              <a:t>You did not fail. The plan failed YOU. There's a difference.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000" y="5580000"/>
            <a:ext cx="6120000" cy="115200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0000" y="5580000"/>
            <a:ext cx="72000" cy="1152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000" y="5688000"/>
            <a:ext cx="576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 i="1">
                <a:solidFill>
                  <a:srgbClr val="E8C97A"/>
                </a:solidFill>
                <a:latin typeface="Georgia"/>
              </a:defRPr>
            </a:pPr>
            <a:r>
              <a:t>"You are not starting from zero.</a:t>
            </a:r>
          </a:p>
          <a:p>
            <a:pPr algn="l">
              <a:spcAft>
                <a:spcPts val="400"/>
              </a:spcAft>
              <a:defRPr sz="1500" b="1" i="1">
                <a:solidFill>
                  <a:srgbClr val="E8C97A"/>
                </a:solidFill>
                <a:latin typeface="Georgia"/>
              </a:defRPr>
            </a:pPr>
            <a:r>
              <a:t>You are starting from experience.</a:t>
            </a:r>
          </a:p>
          <a:p>
            <a:pPr algn="l">
              <a:spcAft>
                <a:spcPts val="600"/>
              </a:spcAft>
              <a:defRPr sz="1100" b="0" i="1">
                <a:solidFill>
                  <a:srgbClr val="FAF7F2"/>
                </a:solidFill>
                <a:latin typeface="Arial"/>
              </a:defRPr>
            </a:pPr>
            <a:r>
              <a:t>You know what didn't work. That is data. That is power."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7020000"/>
            <a:ext cx="612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100" b="0" i="0">
                <a:solidFill>
                  <a:srgbClr val="4A5568"/>
                </a:solidFill>
                <a:latin typeface="Arial"/>
              </a:defRPr>
            </a:pPr>
            <a:r>
              <a:t>I've watched hundreds of moms restart sleep training. The ones who succeed do ONE thing differently:</a:t>
            </a:r>
          </a:p>
          <a:p>
            <a:pPr algn="l">
              <a:spcAft>
                <a:spcPts val="1000"/>
              </a:spcAft>
              <a:defRPr sz="1100" b="1" i="0">
                <a:solidFill>
                  <a:srgbClr val="0D1B3E"/>
                </a:solidFill>
                <a:latin typeface="Arial"/>
              </a:defRPr>
            </a:pPr>
            <a:r>
              <a:t>They DIAGNOSE before they fix. They figure out which of the 5 things actually broke last time — and they target THAT one.</a:t>
            </a:r>
          </a:p>
          <a:p>
            <a:pPr algn="l">
              <a:spcAft>
                <a:spcPts val="1400"/>
              </a:spcAft>
              <a:defRPr sz="1100" b="0" i="0">
                <a:solidFill>
                  <a:srgbClr val="4A5568"/>
                </a:solidFill>
                <a:latin typeface="Arial"/>
              </a:defRPr>
            </a:pPr>
            <a:r>
              <a:t>That's what this worksheet is. The diagnostic, then the fix. Use it tonight.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9180000"/>
            <a:ext cx="61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 i="1">
                <a:solidFill>
                  <a:srgbClr val="4A5568"/>
                </a:solidFill>
                <a:latin typeface="Arial"/>
              </a:defRPr>
            </a:pPr>
            <a:r>
              <a:t>With love and solidarity,</a:t>
            </a:r>
          </a:p>
          <a:p>
            <a:pPr algn="l">
              <a:spcAft>
                <a:spcPts val="600"/>
              </a:spcAft>
              <a:defRPr sz="1100" b="1" i="0">
                <a:solidFill>
                  <a:srgbClr val="C9A84C"/>
                </a:solidFill>
                <a:latin typeface="Georgia"/>
              </a:defRPr>
            </a:pPr>
            <a:r>
              <a:t>— Six &amp; Thriving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46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0"/>
            <a:ext cx="756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28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 i="0">
                <a:solidFill>
                  <a:srgbClr val="FAF7F2"/>
                </a:solidFill>
                <a:latin typeface="Georgia"/>
              </a:defRPr>
            </a:pPr>
            <a:r>
              <a:t>Sleep, Baby. Please.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0" y="108000"/>
            <a:ext cx="28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 i="0">
                <a:solidFill>
                  <a:srgbClr val="E8C97A"/>
                </a:solidFill>
                <a:latin typeface="Arial"/>
              </a:defRPr>
            </a:pPr>
            <a:r>
              <a:t>Step 1: Diagnose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16000"/>
            <a:ext cx="7560000" cy="576000"/>
          </a:xfrm>
          <a:prstGeom prst="rect">
            <a:avLst/>
          </a:prstGeom>
          <a:solidFill>
            <a:srgbClr val="F0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080000"/>
            <a:ext cx="7560000" cy="3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56000" y="10188000"/>
            <a:ext cx="468000" cy="468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000" y="10224000"/>
            <a:ext cx="468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10224000"/>
            <a:ext cx="252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0">
                <a:solidFill>
                  <a:srgbClr val="718096"/>
                </a:solidFill>
                <a:latin typeface="Arial"/>
              </a:defRPr>
            </a:pPr>
            <a:r>
              <a:t>Six &amp; Thriving  •  www.sixandthriving.com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0" y="10224000"/>
            <a:ext cx="23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 i="0">
                <a:solidFill>
                  <a:srgbClr val="718096"/>
                </a:solidFill>
                <a:latin typeface="Arial"/>
              </a:defRPr>
            </a:pPr>
            <a:r>
              <a:t>© 2026 Six &amp; Thriving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792000"/>
            <a:ext cx="540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C9A84C"/>
                </a:solidFill>
                <a:latin typeface="Arial"/>
              </a:defRPr>
            </a:pPr>
            <a:r>
              <a:t>STEP 1 OF THE PROTOCOL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972000"/>
            <a:ext cx="61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1116000"/>
            <a:ext cx="61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0D1B3E"/>
                </a:solidFill>
                <a:latin typeface="Georgia"/>
              </a:defRPr>
            </a:pPr>
            <a:r>
              <a:t>What Actually Broke?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1800000"/>
            <a:ext cx="61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1">
                <a:solidFill>
                  <a:srgbClr val="C9A84C"/>
                </a:solidFill>
                <a:latin typeface="Arial"/>
              </a:defRPr>
            </a:pPr>
            <a:r>
              <a:t>Tick the ONE that sounds most like your last attempt.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0000" y="2304000"/>
            <a:ext cx="6120000" cy="129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0000" y="2304000"/>
            <a:ext cx="90000" cy="129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6000" y="2484000"/>
            <a:ext cx="540000" cy="540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000" y="2520000"/>
            <a:ext cx="54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0000" y="2555999"/>
            <a:ext cx="432000" cy="43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0000" y="2448000"/>
            <a:ext cx="450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D1B3E"/>
                </a:solidFill>
                <a:latin typeface="Georgia"/>
              </a:defRPr>
            </a:pPr>
            <a:r>
              <a:t>Sleep Association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0000" y="2736000"/>
            <a:ext cx="450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4A5568"/>
                </a:solidFill>
                <a:latin typeface="Arial"/>
              </a:defRPr>
            </a:pPr>
            <a:r>
              <a:t>Baby was still falling asleep nursing, rocking, or with a bottle.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0000" y="3060000"/>
            <a:ext cx="45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1">
                <a:solidFill>
                  <a:srgbClr val="0D1B3E"/>
                </a:solidFill>
                <a:latin typeface="Arial"/>
              </a:defRPr>
            </a:pPr>
            <a:r>
              <a:t>If you didn't move feed-to-sleep BEFORE training, this was your culprit.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0000" y="3672000"/>
            <a:ext cx="6120000" cy="129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0000" y="3672000"/>
            <a:ext cx="90000" cy="1296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6000" y="3852000"/>
            <a:ext cx="540000" cy="5400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6000" y="3888000"/>
            <a:ext cx="54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0000" y="3923999"/>
            <a:ext cx="432000" cy="43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20000" y="3816000"/>
            <a:ext cx="450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D1B3E"/>
                </a:solidFill>
                <a:latin typeface="Georgia"/>
              </a:defRPr>
            </a:pPr>
            <a:r>
              <a:t>Wrong Timing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20000" y="4104000"/>
            <a:ext cx="450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4A5568"/>
                </a:solidFill>
                <a:latin typeface="Arial"/>
              </a:defRPr>
            </a:pPr>
            <a:r>
              <a:t>Awake windows were too short or too long. Bedtime was off.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0000" y="4428000"/>
            <a:ext cx="45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1">
                <a:solidFill>
                  <a:srgbClr val="D69E2E"/>
                </a:solidFill>
                <a:latin typeface="Arial"/>
              </a:defRPr>
            </a:pPr>
            <a:r>
              <a:t>Symptom: settling took &gt;30 min. Or 'won't go down at 7pm.'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0000" y="5040000"/>
            <a:ext cx="6120000" cy="129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0000" y="5040000"/>
            <a:ext cx="90000" cy="1296000"/>
          </a:xfrm>
          <a:prstGeom prst="rect">
            <a:avLst/>
          </a:prstGeom>
          <a:solidFill>
            <a:srgbClr val="2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6000" y="5220000"/>
            <a:ext cx="540000" cy="540000"/>
          </a:xfrm>
          <a:prstGeom prst="ellipse">
            <a:avLst/>
          </a:prstGeom>
          <a:solidFill>
            <a:srgbClr val="2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6000" y="5256000"/>
            <a:ext cx="54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0000" y="5291999"/>
            <a:ext cx="432000" cy="43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D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0000" y="5184000"/>
            <a:ext cx="450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D1B3E"/>
                </a:solidFill>
                <a:latin typeface="Georgia"/>
              </a:defRPr>
            </a:pPr>
            <a:r>
              <a:t>Environment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0000" y="5472000"/>
            <a:ext cx="450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4A5568"/>
                </a:solidFill>
                <a:latin typeface="Arial"/>
              </a:defRPr>
            </a:pPr>
            <a:r>
              <a:t>Room not dark enough. Too warm/cold. Sound machine too quiet/loud.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0000" y="5796000"/>
            <a:ext cx="45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1">
                <a:solidFill>
                  <a:srgbClr val="2D8A8A"/>
                </a:solidFill>
                <a:latin typeface="Arial"/>
              </a:defRPr>
            </a:pPr>
            <a:r>
              <a:t>Symptom: short naps. Wakes between cycles. The 5am party.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0000" y="6408000"/>
            <a:ext cx="6120000" cy="129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20000" y="6408000"/>
            <a:ext cx="90000" cy="129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36000" y="6588000"/>
            <a:ext cx="540000" cy="54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6000" y="6624000"/>
            <a:ext cx="54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0000" y="6659999"/>
            <a:ext cx="432000" cy="43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20000" y="6552000"/>
            <a:ext cx="450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D1B3E"/>
                </a:solidFill>
                <a:latin typeface="Georgia"/>
              </a:defRPr>
            </a:pPr>
            <a:r>
              <a:t>Inconsistency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20000" y="6840000"/>
            <a:ext cx="450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4A5568"/>
                </a:solidFill>
                <a:latin typeface="Arial"/>
              </a:defRPr>
            </a:pPr>
            <a:r>
              <a:t>You responded one way Monday, another way Wednesday.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20000" y="7164000"/>
            <a:ext cx="45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1">
                <a:solidFill>
                  <a:srgbClr val="C0392B"/>
                </a:solidFill>
                <a:latin typeface="Arial"/>
              </a:defRPr>
            </a:pPr>
            <a:r>
              <a:t>The #1 reason sleep training fails. Even gentle methods need 100% consistency.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0000" y="7776000"/>
            <a:ext cx="6120000" cy="129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0000" y="7776000"/>
            <a:ext cx="90000" cy="129600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36000" y="7956000"/>
            <a:ext cx="540000" cy="540000"/>
          </a:xfrm>
          <a:prstGeom prst="ellipse">
            <a:avLst/>
          </a:prstGeom>
          <a:solidFill>
            <a:srgbClr val="55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6000" y="7992000"/>
            <a:ext cx="540000" cy="46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0000" y="8027999"/>
            <a:ext cx="432000" cy="43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53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0000" y="7920000"/>
            <a:ext cx="450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D1B3E"/>
                </a:solidFill>
                <a:latin typeface="Georgia"/>
              </a:defRPr>
            </a:pPr>
            <a:r>
              <a:t>Partner Misalignment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20000" y="8208000"/>
            <a:ext cx="450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4A5568"/>
                </a:solidFill>
                <a:latin typeface="Arial"/>
              </a:defRPr>
            </a:pPr>
            <a:r>
              <a:t>One of you held the line. The other caved at 2am.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20000" y="8532000"/>
            <a:ext cx="450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1">
                <a:solidFill>
                  <a:srgbClr val="553C9A"/>
                </a:solidFill>
                <a:latin typeface="Arial"/>
              </a:defRPr>
            </a:pPr>
            <a:r>
              <a:t>Baby learns: if I escalate, the other parent comes in. Crying gets WORSE.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0000" y="9180000"/>
            <a:ext cx="6120000" cy="720000"/>
          </a:xfrm>
          <a:prstGeom prst="roundRect">
            <a:avLst/>
          </a:prstGeom>
          <a:solidFill>
            <a:srgbClr val="FEF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20000" y="9180000"/>
            <a:ext cx="72000" cy="72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6000" y="9252000"/>
            <a:ext cx="576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 i="0">
                <a:solidFill>
                  <a:srgbClr val="C9A84C"/>
                </a:solidFill>
                <a:latin typeface="Arial"/>
              </a:defRPr>
            </a:pPr>
            <a:r>
              <a:t>ONLY ONE.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6000" y="9431999"/>
            <a:ext cx="5760000" cy="39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0D1B3E"/>
                </a:solidFill>
                <a:latin typeface="Arial"/>
              </a:defRPr>
            </a:pPr>
            <a:r>
              <a:t>If you tick more than one — that's normal. But focus on the BIGGEST one. Fix that, and the others often resolve.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46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8000"/>
            <a:ext cx="756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28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 i="0">
                <a:solidFill>
                  <a:srgbClr val="FAF7F2"/>
                </a:solidFill>
                <a:latin typeface="Georgia"/>
              </a:defRPr>
            </a:pPr>
            <a:r>
              <a:t>Sleep, Baby. Please.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0" y="108000"/>
            <a:ext cx="28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 i="0">
                <a:solidFill>
                  <a:srgbClr val="E8C97A"/>
                </a:solidFill>
                <a:latin typeface="Arial"/>
              </a:defRPr>
            </a:pPr>
            <a:r>
              <a:t>Steps 2–5: The Reset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16000"/>
            <a:ext cx="7560000" cy="576000"/>
          </a:xfrm>
          <a:prstGeom prst="rect">
            <a:avLst/>
          </a:prstGeom>
          <a:solidFill>
            <a:srgbClr val="F0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080000"/>
            <a:ext cx="7560000" cy="3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56000" y="10188000"/>
            <a:ext cx="468000" cy="46800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000" y="10224000"/>
            <a:ext cx="468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10224000"/>
            <a:ext cx="252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0">
                <a:solidFill>
                  <a:srgbClr val="718096"/>
                </a:solidFill>
                <a:latin typeface="Arial"/>
              </a:defRPr>
            </a:pPr>
            <a:r>
              <a:t>Six &amp; Thriving  •  www.sixandthriving.com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0" y="10224000"/>
            <a:ext cx="23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 i="0">
                <a:solidFill>
                  <a:srgbClr val="718096"/>
                </a:solidFill>
                <a:latin typeface="Arial"/>
              </a:defRPr>
            </a:pPr>
            <a:r>
              <a:t>© 2026 Six &amp; Thriving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792000"/>
            <a:ext cx="5400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C9A84C"/>
                </a:solidFill>
                <a:latin typeface="Arial"/>
              </a:defRPr>
            </a:pPr>
            <a:r>
              <a:t>THE FULL PROTOCOL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972000"/>
            <a:ext cx="612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1116000"/>
            <a:ext cx="61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0D1B3E"/>
                </a:solidFill>
                <a:latin typeface="Georgia"/>
              </a:defRPr>
            </a:pPr>
            <a:r>
              <a:t>Now Fix It — In 5 Nights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1800000"/>
            <a:ext cx="61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1">
                <a:solidFill>
                  <a:srgbClr val="C9A84C"/>
                </a:solidFill>
                <a:latin typeface="Arial"/>
              </a:defRPr>
            </a:pPr>
            <a:r>
              <a:t>Five steps. Five nights. Targeted at YOUR culprit from page 3.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0000" y="2304000"/>
            <a:ext cx="6120000" cy="100799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4000" y="2520000"/>
            <a:ext cx="576000" cy="576000"/>
          </a:xfrm>
          <a:prstGeom prst="ellipse">
            <a:avLst/>
          </a:prstGeom>
          <a:solidFill>
            <a:srgbClr val="2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000" y="2555999"/>
            <a:ext cx="57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2448000"/>
            <a:ext cx="50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0D1B3E"/>
                </a:solidFill>
                <a:latin typeface="Arial"/>
              </a:defRPr>
            </a:pPr>
            <a:r>
              <a:t>FIX THE ENVIRONMENT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0000" y="2772000"/>
            <a:ext cx="50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4A5568"/>
                </a:solidFill>
                <a:latin typeface="Arial"/>
              </a:defRPr>
            </a:pPr>
            <a:r>
              <a:t>Free, fast, no behavior change. Blackout curtains. White noise on. Room at 68–72°F. Do this BEFORE bedtime.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0000" y="3384000"/>
            <a:ext cx="6120000" cy="100799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4000" y="3600000"/>
            <a:ext cx="576000" cy="576000"/>
          </a:xfrm>
          <a:prstGeom prst="ellipse">
            <a:avLst/>
          </a:prstGeom>
          <a:solidFill>
            <a:srgbClr val="2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000" y="3635999"/>
            <a:ext cx="57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0000" y="3528000"/>
            <a:ext cx="50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0D1B3E"/>
                </a:solidFill>
                <a:latin typeface="Arial"/>
              </a:defRPr>
            </a:pPr>
            <a:r>
              <a:t>RESET THE ROUTINE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0000" y="3852000"/>
            <a:ext cx="50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4A5568"/>
                </a:solidFill>
                <a:latin typeface="Arial"/>
              </a:defRPr>
            </a:pPr>
            <a:r>
              <a:t>Same order. Every night. Bath → lotion → pyjamas → feed → song → crib AWAKE. Strip out the 'extras' that crept in last time.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0000" y="4464000"/>
            <a:ext cx="6120000" cy="100799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4000" y="4680000"/>
            <a:ext cx="576000" cy="576000"/>
          </a:xfrm>
          <a:prstGeom prst="ellipse">
            <a:avLst/>
          </a:prstGeom>
          <a:solidFill>
            <a:srgbClr val="2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000" y="4715999"/>
            <a:ext cx="57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20000" y="4608000"/>
            <a:ext cx="50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0D1B3E"/>
                </a:solidFill>
                <a:latin typeface="Arial"/>
              </a:defRPr>
            </a:pPr>
            <a:r>
              <a:t>COMMIT TO 5 NIGHTS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20000" y="4932000"/>
            <a:ext cx="50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4A5568"/>
                </a:solidFill>
                <a:latin typeface="Arial"/>
              </a:defRPr>
            </a:pPr>
            <a:r>
              <a:t>Five consecutive nights. Same response every time. Write your wait time and your script BEFORE the night starts. No deviations.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0000" y="5544000"/>
            <a:ext cx="6120000" cy="100799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4000" y="5760000"/>
            <a:ext cx="576000" cy="576000"/>
          </a:xfrm>
          <a:prstGeom prst="ellipse">
            <a:avLst/>
          </a:prstGeom>
          <a:solidFill>
            <a:srgbClr val="2D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4000" y="5795999"/>
            <a:ext cx="57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20000" y="5688000"/>
            <a:ext cx="50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0D1B3E"/>
                </a:solidFill>
                <a:latin typeface="Arial"/>
              </a:defRPr>
            </a:pPr>
            <a:r>
              <a:t>TRACK &amp; COMPARE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20000" y="6012000"/>
            <a:ext cx="50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 i="0">
                <a:solidFill>
                  <a:srgbClr val="4A5568"/>
                </a:solidFill>
                <a:latin typeface="Arial"/>
              </a:defRPr>
            </a:pPr>
            <a:r>
              <a:t>Note total settle time + number of wakes each morning. By Night 4 you'll see the trend. By Night 5 you'll see the win.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000" y="6732000"/>
            <a:ext cx="612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D1B3E"/>
                </a:solidFill>
                <a:latin typeface="Georgia"/>
              </a:defRPr>
            </a:pPr>
            <a:r>
              <a:t>Your 5-Night Reset Tracker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000" y="7020000"/>
            <a:ext cx="6120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1">
                <a:solidFill>
                  <a:srgbClr val="C9A84C"/>
                </a:solidFill>
                <a:latin typeface="Arial"/>
              </a:defRPr>
            </a:pPr>
            <a:r>
              <a:t>Print this. Fill it in each morning. Keep it on the fridge.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0000" y="7344000"/>
            <a:ext cx="6120000" cy="324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0000" y="7416000"/>
            <a:ext cx="7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Arial"/>
              </a:defRPr>
            </a:pPr>
            <a:r>
              <a:t>Night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40000" y="7416000"/>
            <a:ext cx="90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Arial"/>
              </a:defRPr>
            </a:pPr>
            <a:r>
              <a:t>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40000" y="7416000"/>
            <a:ext cx="1152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Arial"/>
              </a:defRPr>
            </a:pPr>
            <a:r>
              <a:t>Time to Settle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92000" y="7416000"/>
            <a:ext cx="1188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Arial"/>
              </a:defRPr>
            </a:pPr>
            <a:r>
              <a:t>Number of Wakes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80000" y="7416000"/>
            <a:ext cx="216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Arial"/>
              </a:defRPr>
            </a:pPr>
            <a:r>
              <a:t>Notes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0000" y="7668000"/>
            <a:ext cx="612000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0000" y="7776000"/>
            <a:ext cx="7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 i="0">
                <a:solidFill>
                  <a:srgbClr val="0D1B3E"/>
                </a:solidFill>
                <a:latin typeface="Arial"/>
              </a:defRPr>
            </a:pPr>
            <a:r>
              <a:t>Night 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000" y="8064000"/>
            <a:ext cx="6120000" cy="396000"/>
          </a:xfrm>
          <a:prstGeom prst="rect">
            <a:avLst/>
          </a:prstGeom>
          <a:solidFill>
            <a:srgbClr val="F0EBE1"/>
          </a:solidFill>
          <a:ln w="381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0000" y="8172000"/>
            <a:ext cx="7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 i="0">
                <a:solidFill>
                  <a:srgbClr val="0D1B3E"/>
                </a:solidFill>
                <a:latin typeface="Arial"/>
              </a:defRPr>
            </a:pPr>
            <a:r>
              <a:t>Night 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0000" y="8460000"/>
            <a:ext cx="612000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0000" y="8568000"/>
            <a:ext cx="7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 i="0">
                <a:solidFill>
                  <a:srgbClr val="0D1B3E"/>
                </a:solidFill>
                <a:latin typeface="Arial"/>
              </a:defRPr>
            </a:pPr>
            <a:r>
              <a:t>Night 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0000" y="8856000"/>
            <a:ext cx="6120000" cy="396000"/>
          </a:xfrm>
          <a:prstGeom prst="rect">
            <a:avLst/>
          </a:prstGeom>
          <a:solidFill>
            <a:srgbClr val="F0EBE1"/>
          </a:solidFill>
          <a:ln w="381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0000" y="8964000"/>
            <a:ext cx="7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 i="0">
                <a:solidFill>
                  <a:srgbClr val="0D1B3E"/>
                </a:solidFill>
                <a:latin typeface="Arial"/>
              </a:defRPr>
            </a:pPr>
            <a:r>
              <a:t>Night 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0000" y="9252000"/>
            <a:ext cx="612000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F0E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0000" y="9360000"/>
            <a:ext cx="7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 i="0">
                <a:solidFill>
                  <a:srgbClr val="0D1B3E"/>
                </a:solidFill>
                <a:latin typeface="Arial"/>
              </a:defRPr>
            </a:pPr>
            <a:r>
              <a:t>Night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00000" y="-1080000"/>
            <a:ext cx="4320000" cy="4320000"/>
          </a:xfrm>
          <a:prstGeom prst="ellipse">
            <a:avLst/>
          </a:prstGeom>
          <a:solidFill>
            <a:srgbClr val="1E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40000" y="7200000"/>
            <a:ext cx="2880000" cy="2880000"/>
          </a:xfrm>
          <a:prstGeom prst="ellipse">
            <a:avLst/>
          </a:prstGeom>
          <a:solidFill>
            <a:srgbClr val="16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560000" cy="18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2000"/>
            <a:ext cx="7560000" cy="18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080000"/>
            <a:ext cx="61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 i="0">
                <a:solidFill>
                  <a:srgbClr val="C9A84C"/>
                </a:solidFill>
                <a:latin typeface="Arial"/>
              </a:defRPr>
            </a:pPr>
            <a:r>
              <a:t>ONE LAST THING — IF YOU WANT THE FULL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980000"/>
            <a:ext cx="612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Georgia"/>
              </a:defRPr>
            </a:pPr>
            <a:r>
              <a:t>This time?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880000"/>
            <a:ext cx="612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 i="1">
                <a:solidFill>
                  <a:srgbClr val="C9A84C"/>
                </a:solidFill>
                <a:latin typeface="Georgia"/>
              </a:defRPr>
            </a:pPr>
            <a:r>
              <a:t>Make it stick.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0000" y="3960000"/>
            <a:ext cx="1440000" cy="43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4248000"/>
            <a:ext cx="612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0" i="0">
                <a:solidFill>
                  <a:srgbClr val="F0EBE1"/>
                </a:solidFill>
                <a:latin typeface="Arial"/>
              </a:defRPr>
            </a:pPr>
            <a:r>
              <a:t>The full book has the entire troubleshooting chapter — including how to handle illness, regressions, daycare disruption, sleep regressions at 4/8/12/18 months, and the night-by-night roadmap for what to expect during your reset.</a:t>
            </a:r>
          </a:p>
          <a:p>
            <a:pPr algn="ctr">
              <a:spcAft>
                <a:spcPts val="800"/>
              </a:spcAft>
              <a:defRPr sz="1100" b="0" i="0">
                <a:solidFill>
                  <a:srgbClr val="F0EBE1"/>
                </a:solidFill>
                <a:latin typeface="Arial"/>
              </a:defRPr>
            </a:pPr>
            <a:r>
              <a:t>Plus the Six Sleep Personalities chapter, so you can match the method to YOUR baby — not the one in someone else's book.</a:t>
            </a:r>
          </a:p>
          <a:p>
            <a:pPr algn="ctr">
              <a:spcAft>
                <a:spcPts val="600"/>
              </a:spcAft>
              <a:defRPr sz="1300" b="0" i="1">
                <a:solidFill>
                  <a:srgbClr val="E8C97A"/>
                </a:solidFill>
                <a:latin typeface="Georgia"/>
              </a:defRPr>
            </a:pPr>
            <a:r>
              <a:t>This time, you have the full picture.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000" y="7020000"/>
            <a:ext cx="6120000" cy="2160000"/>
          </a:xfrm>
          <a:prstGeom prst="round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0000" y="7092000"/>
            <a:ext cx="540000" cy="3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0000" y="9072000"/>
            <a:ext cx="540000" cy="3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7200000"/>
            <a:ext cx="612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0D1B3E"/>
                </a:solidFill>
                <a:latin typeface="Georgia"/>
              </a:defRPr>
            </a:pPr>
            <a:r>
              <a:t>Want the full plan?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7632000"/>
            <a:ext cx="61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1">
                <a:solidFill>
                  <a:srgbClr val="4A5568"/>
                </a:solidFill>
                <a:latin typeface="Arial"/>
              </a:defRPr>
            </a:pPr>
            <a:r>
              <a:t>Sleep, Baby. Please. — All 15 chapters. 59 pages. $19.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60000" y="7992000"/>
            <a:ext cx="3240000" cy="468000"/>
          </a:xfrm>
          <a:prstGeom prst="round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60000" y="8064000"/>
            <a:ext cx="324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C9A84C"/>
                </a:solidFill>
                <a:latin typeface="Arial"/>
              </a:defRPr>
            </a:pPr>
            <a:r>
              <a:t>GET THE BOOK  →  $19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8568000"/>
            <a:ext cx="6120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0D1B3E"/>
                </a:solidFill>
                <a:latin typeface="Arial"/>
              </a:defRPr>
            </a:pPr>
            <a:r>
              <a:t>www.sixandthriving.com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9540000"/>
            <a:ext cx="612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1">
                <a:solidFill>
                  <a:srgbClr val="E8C97A"/>
                </a:solidFill>
                <a:latin typeface="Georgia"/>
              </a:defRPr>
            </a:pPr>
            <a:r>
              <a:t>Sleep is coming. For both of you.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9792000"/>
            <a:ext cx="6120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C9A84C"/>
                </a:solidFill>
                <a:latin typeface="Georgia"/>
              </a:defRPr>
            </a:pPr>
            <a:r>
              <a:t>— Six &amp; Thriving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10116000"/>
            <a:ext cx="7560000" cy="576000"/>
          </a:xfrm>
          <a:prstGeom prst="rect">
            <a:avLst/>
          </a:prstGeom>
          <a:solidFill>
            <a:srgbClr val="08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0080000"/>
            <a:ext cx="7560000" cy="36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456000" y="10188000"/>
            <a:ext cx="468000" cy="4680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56000" y="10224000"/>
            <a:ext cx="468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0D1B3E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" y="10224000"/>
            <a:ext cx="252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0">
                <a:solidFill>
                  <a:srgbClr val="E8C97A"/>
                </a:solidFill>
                <a:latin typeface="Arial"/>
              </a:defRPr>
            </a:pPr>
            <a:r>
              <a:t>www.sixandthriving.com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0000" y="10224000"/>
            <a:ext cx="234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 i="0">
                <a:solidFill>
                  <a:srgbClr val="718096"/>
                </a:solidFill>
                <a:latin typeface="Arial"/>
              </a:defRPr>
            </a:pPr>
            <a:r>
              <a:t>© 2026 Six &amp; Thriving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