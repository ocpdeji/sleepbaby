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Oval 1"/>
          <p:cNvSpPr/>
          <p:nvPr/>
        </p:nvSpPr>
        <p:spPr>
          <a:xfrm>
            <a:off x="5400000" y="-1080000"/>
            <a:ext cx="4320000" cy="4320000"/>
          </a:xfrm>
          <a:prstGeom prst="ellipse">
            <a:avLst/>
          </a:prstGeom>
          <a:solidFill>
            <a:srgbClr val="1E2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40000" y="7200000"/>
            <a:ext cx="2880000" cy="2880000"/>
          </a:xfrm>
          <a:prstGeom prst="ellipse">
            <a:avLst/>
          </a:prstGeom>
          <a:solidFill>
            <a:srgbClr val="16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60000" cy="1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2000"/>
            <a:ext cx="7560000" cy="1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580000" y="900000"/>
            <a:ext cx="1260000" cy="1260000"/>
          </a:xfrm>
          <a:prstGeom prst="ellipse">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0000" y="1152000"/>
            <a:ext cx="1260000" cy="324000"/>
          </a:xfrm>
          <a:prstGeom prst="rect">
            <a:avLst/>
          </a:prstGeom>
          <a:noFill/>
        </p:spPr>
        <p:txBody>
          <a:bodyPr wrap="square" anchor="t">
            <a:spAutoFit/>
          </a:bodyPr>
          <a:lstStyle/>
          <a:p>
            <a:pPr algn="ctr">
              <a:defRPr sz="1600" b="1" i="0">
                <a:solidFill>
                  <a:srgbClr val="0D1B3E"/>
                </a:solidFill>
                <a:latin typeface="Georgia"/>
              </a:defRPr>
            </a:pPr>
            <a:r>
              <a:t>FREE</a:t>
            </a:r>
          </a:p>
        </p:txBody>
      </p:sp>
      <p:sp>
        <p:nvSpPr>
          <p:cNvPr id="8" name="TextBox 7"/>
          <p:cNvSpPr txBox="1"/>
          <p:nvPr/>
        </p:nvSpPr>
        <p:spPr>
          <a:xfrm>
            <a:off x="5580000" y="1512000"/>
            <a:ext cx="1260000" cy="251999"/>
          </a:xfrm>
          <a:prstGeom prst="rect">
            <a:avLst/>
          </a:prstGeom>
          <a:noFill/>
        </p:spPr>
        <p:txBody>
          <a:bodyPr wrap="square" anchor="t">
            <a:spAutoFit/>
          </a:bodyPr>
          <a:lstStyle/>
          <a:p>
            <a:pPr algn="ctr">
              <a:defRPr sz="900" b="1" i="0">
                <a:solidFill>
                  <a:srgbClr val="0D1B3E"/>
                </a:solidFill>
                <a:latin typeface="Arial"/>
              </a:defRPr>
            </a:pPr>
            <a:r>
              <a:t>GUIDE</a:t>
            </a:r>
          </a:p>
        </p:txBody>
      </p:sp>
      <p:sp>
        <p:nvSpPr>
          <p:cNvPr id="9" name="TextBox 8"/>
          <p:cNvSpPr txBox="1"/>
          <p:nvPr/>
        </p:nvSpPr>
        <p:spPr>
          <a:xfrm>
            <a:off x="720000" y="1620000"/>
            <a:ext cx="4680000" cy="251999"/>
          </a:xfrm>
          <a:prstGeom prst="rect">
            <a:avLst/>
          </a:prstGeom>
          <a:noFill/>
        </p:spPr>
        <p:txBody>
          <a:bodyPr wrap="square" anchor="t">
            <a:spAutoFit/>
          </a:bodyPr>
          <a:lstStyle/>
          <a:p>
            <a:pPr algn="l">
              <a:defRPr sz="900" b="1" i="0">
                <a:solidFill>
                  <a:srgbClr val="C9A84C"/>
                </a:solidFill>
                <a:latin typeface="Arial"/>
              </a:defRPr>
            </a:pPr>
            <a:r>
              <a:t>FROM CHAPTER 13 OF SLEEP, BABY. PLEASE.</a:t>
            </a:r>
          </a:p>
        </p:txBody>
      </p:sp>
      <p:sp>
        <p:nvSpPr>
          <p:cNvPr id="10" name="Rectangle 9"/>
          <p:cNvSpPr/>
          <p:nvPr/>
        </p:nvSpPr>
        <p:spPr>
          <a:xfrm>
            <a:off x="720000" y="1908000"/>
            <a:ext cx="25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880000"/>
            <a:ext cx="6120000" cy="900000"/>
          </a:xfrm>
          <a:prstGeom prst="rect">
            <a:avLst/>
          </a:prstGeom>
          <a:noFill/>
        </p:spPr>
        <p:txBody>
          <a:bodyPr wrap="square" anchor="t">
            <a:spAutoFit/>
          </a:bodyPr>
          <a:lstStyle/>
          <a:p>
            <a:pPr algn="l">
              <a:defRPr sz="4800" b="1" i="0">
                <a:solidFill>
                  <a:srgbClr val="FFFFFF"/>
                </a:solidFill>
                <a:latin typeface="Georgia"/>
              </a:defRPr>
            </a:pPr>
            <a:r>
              <a:t>Breastfeeding</a:t>
            </a:r>
          </a:p>
        </p:txBody>
      </p:sp>
      <p:sp>
        <p:nvSpPr>
          <p:cNvPr id="12" name="TextBox 11"/>
          <p:cNvSpPr txBox="1"/>
          <p:nvPr/>
        </p:nvSpPr>
        <p:spPr>
          <a:xfrm>
            <a:off x="720000" y="3960000"/>
            <a:ext cx="6120000" cy="900000"/>
          </a:xfrm>
          <a:prstGeom prst="rect">
            <a:avLst/>
          </a:prstGeom>
          <a:noFill/>
        </p:spPr>
        <p:txBody>
          <a:bodyPr wrap="square" anchor="t">
            <a:spAutoFit/>
          </a:bodyPr>
          <a:lstStyle/>
          <a:p>
            <a:pPr algn="l">
              <a:defRPr sz="4800" b="1" i="1">
                <a:solidFill>
                  <a:srgbClr val="C9A84C"/>
                </a:solidFill>
                <a:latin typeface="Georgia"/>
              </a:defRPr>
            </a:pPr>
            <a:r>
              <a:t>&amp; Sleep</a:t>
            </a:r>
          </a:p>
        </p:txBody>
      </p:sp>
      <p:sp>
        <p:nvSpPr>
          <p:cNvPr id="13" name="Rectangle 12"/>
          <p:cNvSpPr/>
          <p:nvPr/>
        </p:nvSpPr>
        <p:spPr>
          <a:xfrm>
            <a:off x="720000" y="5148000"/>
            <a:ext cx="25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908000" y="5094000"/>
            <a:ext cx="144000" cy="144000"/>
          </a:xfrm>
          <a:prstGeom prst="ellipse">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00" y="5472000"/>
            <a:ext cx="6120000" cy="720000"/>
          </a:xfrm>
          <a:prstGeom prst="rect">
            <a:avLst/>
          </a:prstGeom>
          <a:noFill/>
        </p:spPr>
        <p:txBody>
          <a:bodyPr wrap="square">
            <a:spAutoFit/>
          </a:bodyPr>
          <a:lstStyle/>
          <a:p>
            <a:pPr algn="l">
              <a:spcAft>
                <a:spcPts val="400"/>
              </a:spcAft>
              <a:defRPr sz="1300" b="0" i="0">
                <a:solidFill>
                  <a:srgbClr val="F0EBE1"/>
                </a:solidFill>
                <a:latin typeface="Arial"/>
              </a:defRPr>
            </a:pPr>
            <a:r>
              <a:t>The honest guide for moms who want to keep nursing</a:t>
            </a:r>
          </a:p>
          <a:p>
            <a:pPr algn="l">
              <a:spcAft>
                <a:spcPts val="600"/>
              </a:spcAft>
              <a:defRPr sz="1300" b="0" i="0">
                <a:solidFill>
                  <a:srgbClr val="F0EBE1"/>
                </a:solidFill>
                <a:latin typeface="Arial"/>
              </a:defRPr>
            </a:pPr>
            <a:r>
              <a:t>AND finally get some sleep.</a:t>
            </a:r>
          </a:p>
        </p:txBody>
      </p:sp>
      <p:sp>
        <p:nvSpPr>
          <p:cNvPr id="16" name="TextBox 15"/>
          <p:cNvSpPr txBox="1"/>
          <p:nvPr/>
        </p:nvSpPr>
        <p:spPr>
          <a:xfrm>
            <a:off x="720000" y="6480000"/>
            <a:ext cx="6120000" cy="1800000"/>
          </a:xfrm>
          <a:prstGeom prst="rect">
            <a:avLst/>
          </a:prstGeom>
          <a:noFill/>
        </p:spPr>
        <p:txBody>
          <a:bodyPr wrap="square">
            <a:spAutoFit/>
          </a:bodyPr>
          <a:lstStyle/>
          <a:p>
            <a:pPr algn="l">
              <a:spcAft>
                <a:spcPts val="800"/>
              </a:spcAft>
              <a:defRPr sz="1100" b="0" i="0">
                <a:solidFill>
                  <a:srgbClr val="E8C97A"/>
                </a:solidFill>
                <a:latin typeface="Arial"/>
              </a:defRPr>
            </a:pPr>
            <a:r>
              <a:t>✦  Yes, breastfeeding and sleep training ARE compatible</a:t>
            </a:r>
          </a:p>
          <a:p>
            <a:pPr algn="l">
              <a:spcAft>
                <a:spcPts val="800"/>
              </a:spcAft>
              <a:defRPr sz="1100" b="0" i="0">
                <a:solidFill>
                  <a:srgbClr val="E8C97A"/>
                </a:solidFill>
                <a:latin typeface="Arial"/>
              </a:defRPr>
            </a:pPr>
            <a:r>
              <a:t>✦  When to drop night feeds — by age</a:t>
            </a:r>
          </a:p>
          <a:p>
            <a:pPr algn="l">
              <a:spcAft>
                <a:spcPts val="800"/>
              </a:spcAft>
              <a:defRPr sz="1100" b="0" i="0">
                <a:solidFill>
                  <a:srgbClr val="E8C97A"/>
                </a:solidFill>
                <a:latin typeface="Arial"/>
              </a:defRPr>
            </a:pPr>
            <a:r>
              <a:t>✦  The unlatch technique that changed everything for me</a:t>
            </a:r>
          </a:p>
        </p:txBody>
      </p:sp>
      <p:sp>
        <p:nvSpPr>
          <p:cNvPr id="17" name="Rectangle 16"/>
          <p:cNvSpPr/>
          <p:nvPr/>
        </p:nvSpPr>
        <p:spPr>
          <a:xfrm>
            <a:off x="720000" y="8640000"/>
            <a:ext cx="25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000" y="8820000"/>
            <a:ext cx="6120000" cy="360000"/>
          </a:xfrm>
          <a:prstGeom prst="rect">
            <a:avLst/>
          </a:prstGeom>
          <a:noFill/>
        </p:spPr>
        <p:txBody>
          <a:bodyPr wrap="square" anchor="t">
            <a:spAutoFit/>
          </a:bodyPr>
          <a:lstStyle/>
          <a:p>
            <a:pPr algn="l">
              <a:defRPr sz="1600" b="1" i="0">
                <a:solidFill>
                  <a:srgbClr val="FFFFFF"/>
                </a:solidFill>
                <a:latin typeface="Georgia"/>
              </a:defRPr>
            </a:pPr>
            <a:r>
              <a:t>SIX  &amp;  THRIVING</a:t>
            </a:r>
          </a:p>
        </p:txBody>
      </p:sp>
      <p:sp>
        <p:nvSpPr>
          <p:cNvPr id="19" name="TextBox 18"/>
          <p:cNvSpPr txBox="1"/>
          <p:nvPr/>
        </p:nvSpPr>
        <p:spPr>
          <a:xfrm>
            <a:off x="720000" y="9252000"/>
            <a:ext cx="6120000" cy="288000"/>
          </a:xfrm>
          <a:prstGeom prst="rect">
            <a:avLst/>
          </a:prstGeom>
          <a:noFill/>
        </p:spPr>
        <p:txBody>
          <a:bodyPr wrap="square" anchor="t">
            <a:spAutoFit/>
          </a:bodyPr>
          <a:lstStyle/>
          <a:p>
            <a:pPr algn="l">
              <a:defRPr sz="1100" b="0" i="1">
                <a:solidFill>
                  <a:srgbClr val="E8C97A"/>
                </a:solidFill>
                <a:latin typeface="Arial"/>
              </a:defRPr>
            </a:pPr>
            <a:r>
              <a:t>Mother of Six — Including a Set of Twins</a:t>
            </a:r>
          </a:p>
        </p:txBody>
      </p:sp>
      <p:sp>
        <p:nvSpPr>
          <p:cNvPr id="20" name="TextBox 19"/>
          <p:cNvSpPr txBox="1"/>
          <p:nvPr/>
        </p:nvSpPr>
        <p:spPr>
          <a:xfrm>
            <a:off x="0" y="10260000"/>
            <a:ext cx="7560000" cy="216000"/>
          </a:xfrm>
          <a:prstGeom prst="rect">
            <a:avLst/>
          </a:prstGeom>
          <a:noFill/>
        </p:spPr>
        <p:txBody>
          <a:bodyPr wrap="square" anchor="t">
            <a:spAutoFit/>
          </a:bodyPr>
          <a:lstStyle/>
          <a:p>
            <a:pPr algn="ctr">
              <a:defRPr sz="900" b="0" i="0">
                <a:solidFill>
                  <a:srgbClr val="C9A84C"/>
                </a:solidFill>
                <a:latin typeface="Arial"/>
              </a:defRPr>
            </a:pPr>
            <a:r>
              <a:t>www.sixandthriving.com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7560000" cy="46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000"/>
            <a:ext cx="756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
            <a:ext cx="2880000" cy="251999"/>
          </a:xfrm>
          <a:prstGeom prst="rect">
            <a:avLst/>
          </a:prstGeom>
          <a:noFill/>
        </p:spPr>
        <p:txBody>
          <a:bodyPr wrap="square" anchor="t">
            <a:spAutoFit/>
          </a:bodyPr>
          <a:lstStyle/>
          <a:p>
            <a:pPr algn="l">
              <a:defRPr sz="750" b="0" i="0">
                <a:solidFill>
                  <a:srgbClr val="FAF7F2"/>
                </a:solidFill>
                <a:latin typeface="Georgia"/>
              </a:defRPr>
            </a:pPr>
            <a:r>
              <a:t>Sleep, Baby. Please.</a:t>
            </a:r>
          </a:p>
        </p:txBody>
      </p:sp>
      <p:sp>
        <p:nvSpPr>
          <p:cNvPr id="5" name="TextBox 4"/>
          <p:cNvSpPr txBox="1"/>
          <p:nvPr/>
        </p:nvSpPr>
        <p:spPr>
          <a:xfrm>
            <a:off x="3960000" y="108000"/>
            <a:ext cx="2880000" cy="251999"/>
          </a:xfrm>
          <a:prstGeom prst="rect">
            <a:avLst/>
          </a:prstGeom>
          <a:noFill/>
        </p:spPr>
        <p:txBody>
          <a:bodyPr wrap="square" anchor="t">
            <a:spAutoFit/>
          </a:bodyPr>
          <a:lstStyle/>
          <a:p>
            <a:pPr algn="r">
              <a:defRPr sz="750" b="0" i="0">
                <a:solidFill>
                  <a:srgbClr val="E8C97A"/>
                </a:solidFill>
                <a:latin typeface="Arial"/>
              </a:defRPr>
            </a:pPr>
            <a:r>
              <a:t>A Letter</a:t>
            </a:r>
          </a:p>
        </p:txBody>
      </p:sp>
      <p:sp>
        <p:nvSpPr>
          <p:cNvPr id="6" name="Rectangle 5"/>
          <p:cNvSpPr/>
          <p:nvPr/>
        </p:nvSpPr>
        <p:spPr>
          <a:xfrm>
            <a:off x="0" y="10116000"/>
            <a:ext cx="7560000" cy="5760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56000" y="10188000"/>
            <a:ext cx="468000" cy="468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000" y="10224000"/>
            <a:ext cx="468000" cy="396000"/>
          </a:xfrm>
          <a:prstGeom prst="rect">
            <a:avLst/>
          </a:prstGeom>
          <a:noFill/>
        </p:spPr>
        <p:txBody>
          <a:bodyPr wrap="square" anchor="ctr">
            <a:spAutoFit/>
          </a:bodyPr>
          <a:lstStyle/>
          <a:p>
            <a:pPr algn="ctr">
              <a:defRPr sz="900" b="1" i="0">
                <a:solidFill>
                  <a:srgbClr val="FFFFFF"/>
                </a:solidFill>
                <a:latin typeface="Arial"/>
              </a:defRPr>
            </a:pPr>
            <a:r>
              <a:t>2</a:t>
            </a:r>
          </a:p>
        </p:txBody>
      </p:sp>
      <p:sp>
        <p:nvSpPr>
          <p:cNvPr id="10" name="TextBox 9"/>
          <p:cNvSpPr txBox="1"/>
          <p:nvPr/>
        </p:nvSpPr>
        <p:spPr>
          <a:xfrm>
            <a:off x="720000" y="10224000"/>
            <a:ext cx="2520000" cy="251999"/>
          </a:xfrm>
          <a:prstGeom prst="rect">
            <a:avLst/>
          </a:prstGeom>
          <a:noFill/>
        </p:spPr>
        <p:txBody>
          <a:bodyPr wrap="square" anchor="t">
            <a:spAutoFit/>
          </a:bodyPr>
          <a:lstStyle/>
          <a:p>
            <a:pPr algn="l">
              <a:defRPr sz="700" b="0" i="0">
                <a:solidFill>
                  <a:srgbClr val="718096"/>
                </a:solidFill>
                <a:latin typeface="Arial"/>
              </a:defRPr>
            </a:pPr>
            <a:r>
              <a:t>Six &amp; Thriving  •  www.sixandthriving.com</a:t>
            </a:r>
          </a:p>
        </p:txBody>
      </p:sp>
      <p:sp>
        <p:nvSpPr>
          <p:cNvPr id="11" name="TextBox 10"/>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
        <p:nvSpPr>
          <p:cNvPr id="12" name="TextBox 11"/>
          <p:cNvSpPr txBox="1"/>
          <p:nvPr/>
        </p:nvSpPr>
        <p:spPr>
          <a:xfrm>
            <a:off x="720000" y="792000"/>
            <a:ext cx="5400000" cy="144000"/>
          </a:xfrm>
          <a:prstGeom prst="rect">
            <a:avLst/>
          </a:prstGeom>
          <a:noFill/>
        </p:spPr>
        <p:txBody>
          <a:bodyPr wrap="square" anchor="t">
            <a:spAutoFit/>
          </a:bodyPr>
          <a:lstStyle/>
          <a:p>
            <a:pPr algn="l">
              <a:defRPr sz="700" b="1" i="0">
                <a:solidFill>
                  <a:srgbClr val="C9A84C"/>
                </a:solidFill>
                <a:latin typeface="Arial"/>
              </a:defRPr>
            </a:pPr>
            <a:r>
              <a:t>TO THE BREASTFEEDING MOM WHO'S BEEN TOLD SHE HAS TO CHOOSE</a:t>
            </a:r>
          </a:p>
        </p:txBody>
      </p:sp>
      <p:sp>
        <p:nvSpPr>
          <p:cNvPr id="13" name="Rectangle 12"/>
          <p:cNvSpPr/>
          <p:nvPr/>
        </p:nvSpPr>
        <p:spPr>
          <a:xfrm>
            <a:off x="720000" y="972000"/>
            <a:ext cx="61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1152000"/>
            <a:ext cx="6120000" cy="900000"/>
          </a:xfrm>
          <a:prstGeom prst="rect">
            <a:avLst/>
          </a:prstGeom>
          <a:noFill/>
        </p:spPr>
        <p:txBody>
          <a:bodyPr wrap="square" anchor="t">
            <a:spAutoFit/>
          </a:bodyPr>
          <a:lstStyle/>
          <a:p>
            <a:pPr algn="l">
              <a:defRPr sz="2800" b="1" i="0">
                <a:solidFill>
                  <a:srgbClr val="0D1B3E"/>
                </a:solidFill>
                <a:latin typeface="Georgia"/>
              </a:defRPr>
            </a:pPr>
            <a:r>
              <a:t>You don't have</a:t>
            </a:r>
            <a:br/>
            <a:r>
              <a:t>to choose.</a:t>
            </a:r>
          </a:p>
        </p:txBody>
      </p:sp>
      <p:sp>
        <p:nvSpPr>
          <p:cNvPr id="15" name="Rectangle 14"/>
          <p:cNvSpPr/>
          <p:nvPr/>
        </p:nvSpPr>
        <p:spPr>
          <a:xfrm>
            <a:off x="720000" y="2592000"/>
            <a:ext cx="108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000" y="2880000"/>
            <a:ext cx="6120000" cy="2880000"/>
          </a:xfrm>
          <a:prstGeom prst="rect">
            <a:avLst/>
          </a:prstGeom>
          <a:noFill/>
        </p:spPr>
        <p:txBody>
          <a:bodyPr wrap="square">
            <a:spAutoFit/>
          </a:bodyPr>
          <a:lstStyle/>
          <a:p>
            <a:pPr algn="l">
              <a:spcAft>
                <a:spcPts val="1000"/>
              </a:spcAft>
              <a:defRPr sz="1100" b="0" i="0">
                <a:solidFill>
                  <a:srgbClr val="4A5568"/>
                </a:solidFill>
                <a:latin typeface="Arial"/>
              </a:defRPr>
            </a:pPr>
            <a:r>
              <a:t>I've heard it from hundreds of moms: 'I want to keep breastfeeding, but everyone keeps telling me I'll never sleep again unless I wean.'</a:t>
            </a:r>
          </a:p>
          <a:p>
            <a:pPr algn="l">
              <a:spcAft>
                <a:spcPts val="1000"/>
              </a:spcAft>
              <a:defRPr sz="1300" b="1" i="0">
                <a:solidFill>
                  <a:srgbClr val="0D1B3E"/>
                </a:solidFill>
                <a:latin typeface="Georgia"/>
              </a:defRPr>
            </a:pPr>
            <a:r>
              <a:t>It's not true.</a:t>
            </a:r>
          </a:p>
          <a:p>
            <a:pPr algn="l">
              <a:spcAft>
                <a:spcPts val="1000"/>
              </a:spcAft>
              <a:defRPr sz="1100" b="0" i="0">
                <a:solidFill>
                  <a:srgbClr val="4A5568"/>
                </a:solidFill>
                <a:latin typeface="Arial"/>
              </a:defRPr>
            </a:pPr>
            <a:r>
              <a:t>Breastfeeding and independent sleep are completely compatible. I nursed every one of my six babies — including my twins — past 18 months. They all learned to sleep through the night while still breastfeeding.</a:t>
            </a:r>
          </a:p>
          <a:p>
            <a:pPr algn="l">
              <a:spcAft>
                <a:spcPts val="1400"/>
              </a:spcAft>
              <a:defRPr sz="1100" b="1" i="0">
                <a:solidFill>
                  <a:srgbClr val="0D1B3E"/>
                </a:solidFill>
                <a:latin typeface="Arial"/>
              </a:defRPr>
            </a:pPr>
            <a:r>
              <a:t>The trick isn't choosing. It's separating the FEED from the FALL-ASLEEP MOMENT.</a:t>
            </a:r>
          </a:p>
        </p:txBody>
      </p:sp>
      <p:sp>
        <p:nvSpPr>
          <p:cNvPr id="17" name="Rounded Rectangle 16"/>
          <p:cNvSpPr/>
          <p:nvPr/>
        </p:nvSpPr>
        <p:spPr>
          <a:xfrm>
            <a:off x="720000" y="5760000"/>
            <a:ext cx="6120000" cy="1260000"/>
          </a:xfrm>
          <a:prstGeom prst="round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0000" y="5760000"/>
            <a:ext cx="72000" cy="126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000" y="5868000"/>
            <a:ext cx="5760000" cy="1080000"/>
          </a:xfrm>
          <a:prstGeom prst="rect">
            <a:avLst/>
          </a:prstGeom>
          <a:noFill/>
        </p:spPr>
        <p:txBody>
          <a:bodyPr wrap="square">
            <a:spAutoFit/>
          </a:bodyPr>
          <a:lstStyle/>
          <a:p>
            <a:pPr algn="l">
              <a:spcAft>
                <a:spcPts val="200"/>
              </a:spcAft>
              <a:defRPr sz="1500" b="1" i="1">
                <a:solidFill>
                  <a:srgbClr val="E8C97A"/>
                </a:solidFill>
                <a:latin typeface="Georgia"/>
              </a:defRPr>
            </a:pPr>
            <a:r>
              <a:t>"Your supply will not disappear.</a:t>
            </a:r>
          </a:p>
          <a:p>
            <a:pPr algn="l">
              <a:spcAft>
                <a:spcPts val="400"/>
              </a:spcAft>
              <a:defRPr sz="1500" b="1" i="1">
                <a:solidFill>
                  <a:srgbClr val="E8C97A"/>
                </a:solidFill>
                <a:latin typeface="Georgia"/>
              </a:defRPr>
            </a:pPr>
            <a:r>
              <a:t>Your bond will not break.</a:t>
            </a:r>
          </a:p>
          <a:p>
            <a:pPr algn="l">
              <a:spcAft>
                <a:spcPts val="600"/>
              </a:spcAft>
              <a:defRPr sz="1100" b="0" i="1">
                <a:solidFill>
                  <a:srgbClr val="FAF7F2"/>
                </a:solidFill>
                <a:latin typeface="Arial"/>
              </a:defRPr>
            </a:pPr>
            <a:r>
              <a:t>Your baby will still nurse — they will just stop using the breast as a sleep tool."</a:t>
            </a:r>
          </a:p>
        </p:txBody>
      </p:sp>
      <p:sp>
        <p:nvSpPr>
          <p:cNvPr id="20" name="TextBox 19"/>
          <p:cNvSpPr txBox="1"/>
          <p:nvPr/>
        </p:nvSpPr>
        <p:spPr>
          <a:xfrm>
            <a:off x="720000" y="7380000"/>
            <a:ext cx="6120000" cy="1440000"/>
          </a:xfrm>
          <a:prstGeom prst="rect">
            <a:avLst/>
          </a:prstGeom>
          <a:noFill/>
        </p:spPr>
        <p:txBody>
          <a:bodyPr wrap="square">
            <a:spAutoFit/>
          </a:bodyPr>
          <a:lstStyle/>
          <a:p>
            <a:pPr algn="l">
              <a:spcAft>
                <a:spcPts val="1000"/>
              </a:spcAft>
              <a:defRPr sz="1100" b="0" i="0">
                <a:solidFill>
                  <a:srgbClr val="4A5568"/>
                </a:solidFill>
                <a:latin typeface="Arial"/>
              </a:defRPr>
            </a:pPr>
            <a:r>
              <a:t>This guide is the breastfeeding-specific section from my full book. It's the part new moms message me about most.</a:t>
            </a:r>
          </a:p>
          <a:p>
            <a:pPr algn="l">
              <a:spcAft>
                <a:spcPts val="1400"/>
              </a:spcAft>
              <a:defRPr sz="1100" b="0" i="0">
                <a:solidFill>
                  <a:srgbClr val="4A5568"/>
                </a:solidFill>
                <a:latin typeface="Arial"/>
              </a:defRPr>
            </a:pPr>
            <a:r>
              <a:t>Read it. Try the unlatch technique tonight. Your supply will be fine. Your baby will be fine. You will start sleeping again.</a:t>
            </a:r>
          </a:p>
        </p:txBody>
      </p:sp>
      <p:sp>
        <p:nvSpPr>
          <p:cNvPr id="21" name="TextBox 20"/>
          <p:cNvSpPr txBox="1"/>
          <p:nvPr/>
        </p:nvSpPr>
        <p:spPr>
          <a:xfrm>
            <a:off x="720000" y="8820000"/>
            <a:ext cx="6120000" cy="720000"/>
          </a:xfrm>
          <a:prstGeom prst="rect">
            <a:avLst/>
          </a:prstGeom>
          <a:noFill/>
        </p:spPr>
        <p:txBody>
          <a:bodyPr wrap="square">
            <a:spAutoFit/>
          </a:bodyPr>
          <a:lstStyle/>
          <a:p>
            <a:pPr algn="l">
              <a:spcAft>
                <a:spcPts val="400"/>
              </a:spcAft>
              <a:defRPr sz="1000" b="0" i="1">
                <a:solidFill>
                  <a:srgbClr val="4A5568"/>
                </a:solidFill>
                <a:latin typeface="Arial"/>
              </a:defRPr>
            </a:pPr>
            <a:r>
              <a:t>With love and solidarity,</a:t>
            </a:r>
          </a:p>
          <a:p>
            <a:pPr algn="l">
              <a:spcAft>
                <a:spcPts val="600"/>
              </a:spcAft>
              <a:defRPr sz="1100" b="1" i="0">
                <a:solidFill>
                  <a:srgbClr val="C9A84C"/>
                </a:solidFill>
                <a:latin typeface="Georgia"/>
              </a:defRPr>
            </a:pPr>
            <a:r>
              <a:t>— Six &amp; Thriving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7560000" cy="46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000"/>
            <a:ext cx="756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
            <a:ext cx="2880000" cy="251999"/>
          </a:xfrm>
          <a:prstGeom prst="rect">
            <a:avLst/>
          </a:prstGeom>
          <a:noFill/>
        </p:spPr>
        <p:txBody>
          <a:bodyPr wrap="square" anchor="t">
            <a:spAutoFit/>
          </a:bodyPr>
          <a:lstStyle/>
          <a:p>
            <a:pPr algn="l">
              <a:defRPr sz="750" b="0" i="0">
                <a:solidFill>
                  <a:srgbClr val="FAF7F2"/>
                </a:solidFill>
                <a:latin typeface="Georgia"/>
              </a:defRPr>
            </a:pPr>
            <a:r>
              <a:t>Sleep, Baby. Please.</a:t>
            </a:r>
          </a:p>
        </p:txBody>
      </p:sp>
      <p:sp>
        <p:nvSpPr>
          <p:cNvPr id="5" name="TextBox 4"/>
          <p:cNvSpPr txBox="1"/>
          <p:nvPr/>
        </p:nvSpPr>
        <p:spPr>
          <a:xfrm>
            <a:off x="3960000" y="108000"/>
            <a:ext cx="2880000" cy="251999"/>
          </a:xfrm>
          <a:prstGeom prst="rect">
            <a:avLst/>
          </a:prstGeom>
          <a:noFill/>
        </p:spPr>
        <p:txBody>
          <a:bodyPr wrap="square" anchor="t">
            <a:spAutoFit/>
          </a:bodyPr>
          <a:lstStyle/>
          <a:p>
            <a:pPr algn="r">
              <a:defRPr sz="750" b="0" i="0">
                <a:solidFill>
                  <a:srgbClr val="E8C97A"/>
                </a:solidFill>
                <a:latin typeface="Arial"/>
              </a:defRPr>
            </a:pPr>
            <a:r>
              <a:t>Night Feed Schedule</a:t>
            </a:r>
          </a:p>
        </p:txBody>
      </p:sp>
      <p:sp>
        <p:nvSpPr>
          <p:cNvPr id="6" name="Rectangle 5"/>
          <p:cNvSpPr/>
          <p:nvPr/>
        </p:nvSpPr>
        <p:spPr>
          <a:xfrm>
            <a:off x="0" y="10116000"/>
            <a:ext cx="7560000" cy="5760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56000" y="10188000"/>
            <a:ext cx="468000" cy="468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000" y="10224000"/>
            <a:ext cx="468000" cy="396000"/>
          </a:xfrm>
          <a:prstGeom prst="rect">
            <a:avLst/>
          </a:prstGeom>
          <a:noFill/>
        </p:spPr>
        <p:txBody>
          <a:bodyPr wrap="square" anchor="ctr">
            <a:spAutoFit/>
          </a:bodyPr>
          <a:lstStyle/>
          <a:p>
            <a:pPr algn="ctr">
              <a:defRPr sz="900" b="1" i="0">
                <a:solidFill>
                  <a:srgbClr val="FFFFFF"/>
                </a:solidFill>
                <a:latin typeface="Arial"/>
              </a:defRPr>
            </a:pPr>
            <a:r>
              <a:t>3</a:t>
            </a:r>
          </a:p>
        </p:txBody>
      </p:sp>
      <p:sp>
        <p:nvSpPr>
          <p:cNvPr id="10" name="TextBox 9"/>
          <p:cNvSpPr txBox="1"/>
          <p:nvPr/>
        </p:nvSpPr>
        <p:spPr>
          <a:xfrm>
            <a:off x="720000" y="10224000"/>
            <a:ext cx="2520000" cy="251999"/>
          </a:xfrm>
          <a:prstGeom prst="rect">
            <a:avLst/>
          </a:prstGeom>
          <a:noFill/>
        </p:spPr>
        <p:txBody>
          <a:bodyPr wrap="square" anchor="t">
            <a:spAutoFit/>
          </a:bodyPr>
          <a:lstStyle/>
          <a:p>
            <a:pPr algn="l">
              <a:defRPr sz="700" b="0" i="0">
                <a:solidFill>
                  <a:srgbClr val="718096"/>
                </a:solidFill>
                <a:latin typeface="Arial"/>
              </a:defRPr>
            </a:pPr>
            <a:r>
              <a:t>Six &amp; Thriving  •  www.sixandthriving.com</a:t>
            </a:r>
          </a:p>
        </p:txBody>
      </p:sp>
      <p:sp>
        <p:nvSpPr>
          <p:cNvPr id="11" name="TextBox 10"/>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
        <p:nvSpPr>
          <p:cNvPr id="12" name="TextBox 11"/>
          <p:cNvSpPr txBox="1"/>
          <p:nvPr/>
        </p:nvSpPr>
        <p:spPr>
          <a:xfrm>
            <a:off x="720000" y="792000"/>
            <a:ext cx="5400000" cy="144000"/>
          </a:xfrm>
          <a:prstGeom prst="rect">
            <a:avLst/>
          </a:prstGeom>
          <a:noFill/>
        </p:spPr>
        <p:txBody>
          <a:bodyPr wrap="square" anchor="t">
            <a:spAutoFit/>
          </a:bodyPr>
          <a:lstStyle/>
          <a:p>
            <a:pPr algn="l">
              <a:defRPr sz="700" b="1" i="0">
                <a:solidFill>
                  <a:srgbClr val="C9A84C"/>
                </a:solidFill>
                <a:latin typeface="Arial"/>
              </a:defRPr>
            </a:pPr>
            <a:r>
              <a:t>BY AGE</a:t>
            </a:r>
          </a:p>
        </p:txBody>
      </p:sp>
      <p:sp>
        <p:nvSpPr>
          <p:cNvPr id="13" name="Rectangle 12"/>
          <p:cNvSpPr/>
          <p:nvPr/>
        </p:nvSpPr>
        <p:spPr>
          <a:xfrm>
            <a:off x="720000" y="972000"/>
            <a:ext cx="61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1116000"/>
            <a:ext cx="6120000" cy="540000"/>
          </a:xfrm>
          <a:prstGeom prst="rect">
            <a:avLst/>
          </a:prstGeom>
          <a:noFill/>
        </p:spPr>
        <p:txBody>
          <a:bodyPr wrap="square" anchor="t">
            <a:spAutoFit/>
          </a:bodyPr>
          <a:lstStyle/>
          <a:p>
            <a:pPr algn="l">
              <a:defRPr sz="2400" b="1" i="0">
                <a:solidFill>
                  <a:srgbClr val="0D1B3E"/>
                </a:solidFill>
                <a:latin typeface="Georgia"/>
              </a:defRPr>
            </a:pPr>
            <a:r>
              <a:t>When to Drop Night Feeds</a:t>
            </a:r>
          </a:p>
        </p:txBody>
      </p:sp>
      <p:sp>
        <p:nvSpPr>
          <p:cNvPr id="15" name="TextBox 14"/>
          <p:cNvSpPr txBox="1"/>
          <p:nvPr/>
        </p:nvSpPr>
        <p:spPr>
          <a:xfrm>
            <a:off x="720000" y="1800000"/>
            <a:ext cx="6120000" cy="216000"/>
          </a:xfrm>
          <a:prstGeom prst="rect">
            <a:avLst/>
          </a:prstGeom>
          <a:noFill/>
        </p:spPr>
        <p:txBody>
          <a:bodyPr wrap="square" anchor="t">
            <a:spAutoFit/>
          </a:bodyPr>
          <a:lstStyle/>
          <a:p>
            <a:pPr algn="l">
              <a:defRPr sz="1100" b="0" i="1">
                <a:solidFill>
                  <a:srgbClr val="C9A84C"/>
                </a:solidFill>
                <a:latin typeface="Arial"/>
              </a:defRPr>
            </a:pPr>
            <a:r>
              <a:t>For breastfed babies — paediatrician approval first.</a:t>
            </a:r>
          </a:p>
        </p:txBody>
      </p:sp>
      <p:sp>
        <p:nvSpPr>
          <p:cNvPr id="16" name="Rounded Rectangle 15"/>
          <p:cNvSpPr/>
          <p:nvPr/>
        </p:nvSpPr>
        <p:spPr>
          <a:xfrm>
            <a:off x="720000" y="2304000"/>
            <a:ext cx="6120000" cy="827999"/>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0000" y="2304000"/>
            <a:ext cx="90000" cy="827999"/>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6000" y="2448000"/>
            <a:ext cx="1440000" cy="251999"/>
          </a:xfrm>
          <a:prstGeom prst="rect">
            <a:avLst/>
          </a:prstGeom>
          <a:noFill/>
        </p:spPr>
        <p:txBody>
          <a:bodyPr wrap="square" anchor="t">
            <a:spAutoFit/>
          </a:bodyPr>
          <a:lstStyle/>
          <a:p>
            <a:pPr algn="l">
              <a:defRPr sz="1300" b="1" i="0">
                <a:solidFill>
                  <a:srgbClr val="0D1B3E"/>
                </a:solidFill>
                <a:latin typeface="Georgia"/>
              </a:defRPr>
            </a:pPr>
            <a:r>
              <a:t>0–4 months</a:t>
            </a:r>
          </a:p>
        </p:txBody>
      </p:sp>
      <p:sp>
        <p:nvSpPr>
          <p:cNvPr id="19" name="TextBox 18"/>
          <p:cNvSpPr txBox="1"/>
          <p:nvPr/>
        </p:nvSpPr>
        <p:spPr>
          <a:xfrm>
            <a:off x="936000" y="2772000"/>
            <a:ext cx="3960000" cy="288000"/>
          </a:xfrm>
          <a:prstGeom prst="rect">
            <a:avLst/>
          </a:prstGeom>
          <a:noFill/>
        </p:spPr>
        <p:txBody>
          <a:bodyPr wrap="square" anchor="t">
            <a:spAutoFit/>
          </a:bodyPr>
          <a:lstStyle/>
          <a:p>
            <a:pPr algn="l">
              <a:defRPr sz="950" b="0" i="0">
                <a:solidFill>
                  <a:srgbClr val="4A5568"/>
                </a:solidFill>
                <a:latin typeface="Arial"/>
              </a:defRPr>
            </a:pPr>
            <a:r>
              <a:t>Feed on demand. All night feeds are nutritional.</a:t>
            </a:r>
          </a:p>
        </p:txBody>
      </p:sp>
      <p:sp>
        <p:nvSpPr>
          <p:cNvPr id="20" name="Rounded Rectangle 19"/>
          <p:cNvSpPr/>
          <p:nvPr/>
        </p:nvSpPr>
        <p:spPr>
          <a:xfrm>
            <a:off x="5040000" y="2520000"/>
            <a:ext cx="1620000" cy="3960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0000" y="2555999"/>
            <a:ext cx="1620000" cy="324000"/>
          </a:xfrm>
          <a:prstGeom prst="rect">
            <a:avLst/>
          </a:prstGeom>
          <a:noFill/>
        </p:spPr>
        <p:txBody>
          <a:bodyPr wrap="square" anchor="ctr">
            <a:spAutoFit/>
          </a:bodyPr>
          <a:lstStyle/>
          <a:p>
            <a:pPr algn="ctr">
              <a:defRPr sz="1000" b="1" i="0">
                <a:solidFill>
                  <a:srgbClr val="FFFFFF"/>
                </a:solidFill>
                <a:latin typeface="Arial"/>
              </a:defRPr>
            </a:pPr>
            <a:r>
              <a:t>DON'T DROP</a:t>
            </a:r>
          </a:p>
        </p:txBody>
      </p:sp>
      <p:sp>
        <p:nvSpPr>
          <p:cNvPr id="22" name="Rounded Rectangle 21"/>
          <p:cNvSpPr/>
          <p:nvPr/>
        </p:nvSpPr>
        <p:spPr>
          <a:xfrm>
            <a:off x="720000" y="3240000"/>
            <a:ext cx="6120000" cy="827999"/>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0000" y="3240000"/>
            <a:ext cx="90000" cy="827999"/>
          </a:xfrm>
          <a:prstGeom prst="rect">
            <a:avLst/>
          </a:prstGeom>
          <a:solidFill>
            <a:srgbClr val="D69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6000" y="3384000"/>
            <a:ext cx="1440000" cy="251999"/>
          </a:xfrm>
          <a:prstGeom prst="rect">
            <a:avLst/>
          </a:prstGeom>
          <a:noFill/>
        </p:spPr>
        <p:txBody>
          <a:bodyPr wrap="square" anchor="t">
            <a:spAutoFit/>
          </a:bodyPr>
          <a:lstStyle/>
          <a:p>
            <a:pPr algn="l">
              <a:defRPr sz="1300" b="1" i="0">
                <a:solidFill>
                  <a:srgbClr val="0D1B3E"/>
                </a:solidFill>
                <a:latin typeface="Georgia"/>
              </a:defRPr>
            </a:pPr>
            <a:r>
              <a:t>4–6 months</a:t>
            </a:r>
          </a:p>
        </p:txBody>
      </p:sp>
      <p:sp>
        <p:nvSpPr>
          <p:cNvPr id="25" name="TextBox 24"/>
          <p:cNvSpPr txBox="1"/>
          <p:nvPr/>
        </p:nvSpPr>
        <p:spPr>
          <a:xfrm>
            <a:off x="936000" y="3708000"/>
            <a:ext cx="3960000" cy="288000"/>
          </a:xfrm>
          <a:prstGeom prst="rect">
            <a:avLst/>
          </a:prstGeom>
          <a:noFill/>
        </p:spPr>
        <p:txBody>
          <a:bodyPr wrap="square" anchor="t">
            <a:spAutoFit/>
          </a:bodyPr>
          <a:lstStyle/>
          <a:p>
            <a:pPr algn="l">
              <a:defRPr sz="950" b="0" i="0">
                <a:solidFill>
                  <a:srgbClr val="4A5568"/>
                </a:solidFill>
                <a:latin typeface="Arial"/>
              </a:defRPr>
            </a:pPr>
            <a:r>
              <a:t>Reduce to 1–2 feeds. Increase daytime calories.</a:t>
            </a:r>
          </a:p>
        </p:txBody>
      </p:sp>
      <p:sp>
        <p:nvSpPr>
          <p:cNvPr id="26" name="Rounded Rectangle 25"/>
          <p:cNvSpPr/>
          <p:nvPr/>
        </p:nvSpPr>
        <p:spPr>
          <a:xfrm>
            <a:off x="5040000" y="3456000"/>
            <a:ext cx="1620000" cy="396000"/>
          </a:xfrm>
          <a:prstGeom prst="roundRect">
            <a:avLst/>
          </a:prstGeom>
          <a:solidFill>
            <a:srgbClr val="D69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40000" y="3491999"/>
            <a:ext cx="1620000" cy="324000"/>
          </a:xfrm>
          <a:prstGeom prst="rect">
            <a:avLst/>
          </a:prstGeom>
          <a:noFill/>
        </p:spPr>
        <p:txBody>
          <a:bodyPr wrap="square" anchor="ctr">
            <a:spAutoFit/>
          </a:bodyPr>
          <a:lstStyle/>
          <a:p>
            <a:pPr algn="ctr">
              <a:defRPr sz="1000" b="1" i="0">
                <a:solidFill>
                  <a:srgbClr val="FFFFFF"/>
                </a:solidFill>
                <a:latin typeface="Arial"/>
              </a:defRPr>
            </a:pPr>
            <a:r>
              <a:t>REDUCE</a:t>
            </a:r>
          </a:p>
        </p:txBody>
      </p:sp>
      <p:sp>
        <p:nvSpPr>
          <p:cNvPr id="28" name="Rounded Rectangle 27"/>
          <p:cNvSpPr/>
          <p:nvPr/>
        </p:nvSpPr>
        <p:spPr>
          <a:xfrm>
            <a:off x="720000" y="4176000"/>
            <a:ext cx="6120000" cy="827999"/>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0000" y="4176000"/>
            <a:ext cx="90000" cy="827999"/>
          </a:xfrm>
          <a:prstGeom prst="rect">
            <a:avLst/>
          </a:prstGeom>
          <a:solidFill>
            <a:srgbClr val="2D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6000" y="4320000"/>
            <a:ext cx="1440000" cy="251999"/>
          </a:xfrm>
          <a:prstGeom prst="rect">
            <a:avLst/>
          </a:prstGeom>
          <a:noFill/>
        </p:spPr>
        <p:txBody>
          <a:bodyPr wrap="square" anchor="t">
            <a:spAutoFit/>
          </a:bodyPr>
          <a:lstStyle/>
          <a:p>
            <a:pPr algn="l">
              <a:defRPr sz="1300" b="1" i="0">
                <a:solidFill>
                  <a:srgbClr val="0D1B3E"/>
                </a:solidFill>
                <a:latin typeface="Georgia"/>
              </a:defRPr>
            </a:pPr>
            <a:r>
              <a:t>6–9 months</a:t>
            </a:r>
          </a:p>
        </p:txBody>
      </p:sp>
      <p:sp>
        <p:nvSpPr>
          <p:cNvPr id="31" name="TextBox 30"/>
          <p:cNvSpPr txBox="1"/>
          <p:nvPr/>
        </p:nvSpPr>
        <p:spPr>
          <a:xfrm>
            <a:off x="936000" y="4644000"/>
            <a:ext cx="3960000" cy="288000"/>
          </a:xfrm>
          <a:prstGeom prst="rect">
            <a:avLst/>
          </a:prstGeom>
          <a:noFill/>
        </p:spPr>
        <p:txBody>
          <a:bodyPr wrap="square" anchor="t">
            <a:spAutoFit/>
          </a:bodyPr>
          <a:lstStyle/>
          <a:p>
            <a:pPr algn="l">
              <a:defRPr sz="950" b="0" i="0">
                <a:solidFill>
                  <a:srgbClr val="4A5568"/>
                </a:solidFill>
                <a:latin typeface="Arial"/>
              </a:defRPr>
            </a:pPr>
            <a:r>
              <a:t>Most babies can handle 0–1 night feeds.</a:t>
            </a:r>
          </a:p>
        </p:txBody>
      </p:sp>
      <p:sp>
        <p:nvSpPr>
          <p:cNvPr id="32" name="Rounded Rectangle 31"/>
          <p:cNvSpPr/>
          <p:nvPr/>
        </p:nvSpPr>
        <p:spPr>
          <a:xfrm>
            <a:off x="5040000" y="4392000"/>
            <a:ext cx="1620000" cy="396000"/>
          </a:xfrm>
          <a:prstGeom prst="roundRect">
            <a:avLst/>
          </a:prstGeom>
          <a:solidFill>
            <a:srgbClr val="2D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40000" y="4427999"/>
            <a:ext cx="1620000" cy="324000"/>
          </a:xfrm>
          <a:prstGeom prst="rect">
            <a:avLst/>
          </a:prstGeom>
          <a:noFill/>
        </p:spPr>
        <p:txBody>
          <a:bodyPr wrap="square" anchor="ctr">
            <a:spAutoFit/>
          </a:bodyPr>
          <a:lstStyle/>
          <a:p>
            <a:pPr algn="ctr">
              <a:defRPr sz="1000" b="1" i="0">
                <a:solidFill>
                  <a:srgbClr val="FFFFFF"/>
                </a:solidFill>
                <a:latin typeface="Arial"/>
              </a:defRPr>
            </a:pPr>
            <a:r>
              <a:t>ALMOST THERE</a:t>
            </a:r>
          </a:p>
        </p:txBody>
      </p:sp>
      <p:sp>
        <p:nvSpPr>
          <p:cNvPr id="34" name="Rounded Rectangle 33"/>
          <p:cNvSpPr/>
          <p:nvPr/>
        </p:nvSpPr>
        <p:spPr>
          <a:xfrm>
            <a:off x="720000" y="5112000"/>
            <a:ext cx="6120000" cy="827999"/>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20000" y="5112000"/>
            <a:ext cx="90000" cy="827999"/>
          </a:xfrm>
          <a:prstGeom prst="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6000" y="5256000"/>
            <a:ext cx="1440000" cy="251999"/>
          </a:xfrm>
          <a:prstGeom prst="rect">
            <a:avLst/>
          </a:prstGeom>
          <a:noFill/>
        </p:spPr>
        <p:txBody>
          <a:bodyPr wrap="square" anchor="t">
            <a:spAutoFit/>
          </a:bodyPr>
          <a:lstStyle/>
          <a:p>
            <a:pPr algn="l">
              <a:defRPr sz="1300" b="1" i="0">
                <a:solidFill>
                  <a:srgbClr val="0D1B3E"/>
                </a:solidFill>
                <a:latin typeface="Georgia"/>
              </a:defRPr>
            </a:pPr>
            <a:r>
              <a:t>9+ months</a:t>
            </a:r>
          </a:p>
        </p:txBody>
      </p:sp>
      <p:sp>
        <p:nvSpPr>
          <p:cNvPr id="37" name="TextBox 36"/>
          <p:cNvSpPr txBox="1"/>
          <p:nvPr/>
        </p:nvSpPr>
        <p:spPr>
          <a:xfrm>
            <a:off x="936000" y="5580000"/>
            <a:ext cx="3960000" cy="288000"/>
          </a:xfrm>
          <a:prstGeom prst="rect">
            <a:avLst/>
          </a:prstGeom>
          <a:noFill/>
        </p:spPr>
        <p:txBody>
          <a:bodyPr wrap="square" anchor="t">
            <a:spAutoFit/>
          </a:bodyPr>
          <a:lstStyle/>
          <a:p>
            <a:pPr algn="l">
              <a:defRPr sz="950" b="0" i="0">
                <a:solidFill>
                  <a:srgbClr val="4A5568"/>
                </a:solidFill>
                <a:latin typeface="Arial"/>
              </a:defRPr>
            </a:pPr>
            <a:r>
              <a:t>If weight gain on track, night feeds are habitual.</a:t>
            </a:r>
          </a:p>
        </p:txBody>
      </p:sp>
      <p:sp>
        <p:nvSpPr>
          <p:cNvPr id="38" name="Rounded Rectangle 37"/>
          <p:cNvSpPr/>
          <p:nvPr/>
        </p:nvSpPr>
        <p:spPr>
          <a:xfrm>
            <a:off x="5040000" y="5328000"/>
            <a:ext cx="1620000" cy="396000"/>
          </a:xfrm>
          <a:prstGeom prst="round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40000" y="5363999"/>
            <a:ext cx="1620000" cy="324000"/>
          </a:xfrm>
          <a:prstGeom prst="rect">
            <a:avLst/>
          </a:prstGeom>
          <a:noFill/>
        </p:spPr>
        <p:txBody>
          <a:bodyPr wrap="square" anchor="ctr">
            <a:spAutoFit/>
          </a:bodyPr>
          <a:lstStyle/>
          <a:p>
            <a:pPr algn="ctr">
              <a:defRPr sz="1000" b="1" i="0">
                <a:solidFill>
                  <a:srgbClr val="FFFFFF"/>
                </a:solidFill>
                <a:latin typeface="Arial"/>
              </a:defRPr>
            </a:pPr>
            <a:r>
              <a:t>READY TO DROP</a:t>
            </a:r>
          </a:p>
        </p:txBody>
      </p:sp>
      <p:sp>
        <p:nvSpPr>
          <p:cNvPr id="40" name="Rounded Rectangle 39"/>
          <p:cNvSpPr/>
          <p:nvPr/>
        </p:nvSpPr>
        <p:spPr>
          <a:xfrm>
            <a:off x="720000" y="6300000"/>
            <a:ext cx="6120000" cy="1080000"/>
          </a:xfrm>
          <a:prstGeom prst="roundRect">
            <a:avLst/>
          </a:prstGeom>
          <a:solidFill>
            <a:srgbClr val="EB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0000" y="6300000"/>
            <a:ext cx="72000" cy="1080000"/>
          </a:xfrm>
          <a:prstGeom prst="rect">
            <a:avLst/>
          </a:prstGeom>
          <a:solidFill>
            <a:srgbClr val="2D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6000" y="6372000"/>
            <a:ext cx="5760000" cy="144000"/>
          </a:xfrm>
          <a:prstGeom prst="rect">
            <a:avLst/>
          </a:prstGeom>
          <a:noFill/>
        </p:spPr>
        <p:txBody>
          <a:bodyPr wrap="square" anchor="t">
            <a:spAutoFit/>
          </a:bodyPr>
          <a:lstStyle/>
          <a:p>
            <a:pPr algn="l">
              <a:defRPr sz="750" b="1" i="0">
                <a:solidFill>
                  <a:srgbClr val="2D8A8A"/>
                </a:solidFill>
                <a:latin typeface="Arial"/>
              </a:defRPr>
            </a:pPr>
            <a:r>
              <a:t>THE MYTH BUSTER</a:t>
            </a:r>
          </a:p>
        </p:txBody>
      </p:sp>
      <p:sp>
        <p:nvSpPr>
          <p:cNvPr id="43" name="TextBox 42"/>
          <p:cNvSpPr txBox="1"/>
          <p:nvPr/>
        </p:nvSpPr>
        <p:spPr>
          <a:xfrm>
            <a:off x="936000" y="6551999"/>
            <a:ext cx="5760000" cy="756000"/>
          </a:xfrm>
          <a:prstGeom prst="rect">
            <a:avLst/>
          </a:prstGeom>
          <a:noFill/>
        </p:spPr>
        <p:txBody>
          <a:bodyPr wrap="square" anchor="t">
            <a:spAutoFit/>
          </a:bodyPr>
          <a:lstStyle/>
          <a:p>
            <a:pPr algn="l">
              <a:defRPr sz="950" b="0" i="0">
                <a:solidFill>
                  <a:srgbClr val="0D1B3E"/>
                </a:solidFill>
                <a:latin typeface="Arial"/>
              </a:defRPr>
            </a:pPr>
            <a:r>
              <a:t>Your supply adjusts to daytime demand within 3–5 days of dropping a night feed. Pump once before bed in the first few days if engorgement is a concern. After that, your body knows what to do.</a:t>
            </a:r>
          </a:p>
        </p:txBody>
      </p:sp>
      <p:sp>
        <p:nvSpPr>
          <p:cNvPr id="44" name="Rounded Rectangle 43"/>
          <p:cNvSpPr/>
          <p:nvPr/>
        </p:nvSpPr>
        <p:spPr>
          <a:xfrm>
            <a:off x="720000" y="7560000"/>
            <a:ext cx="6120000" cy="1080000"/>
          </a:xfrm>
          <a:prstGeom prst="roundRect">
            <a:avLst/>
          </a:prstGeom>
          <a:solidFill>
            <a:srgbClr val="FEF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0000" y="7560000"/>
            <a:ext cx="72000" cy="10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6000" y="7632000"/>
            <a:ext cx="5760000" cy="144000"/>
          </a:xfrm>
          <a:prstGeom prst="rect">
            <a:avLst/>
          </a:prstGeom>
          <a:noFill/>
        </p:spPr>
        <p:txBody>
          <a:bodyPr wrap="square" anchor="t">
            <a:spAutoFit/>
          </a:bodyPr>
          <a:lstStyle/>
          <a:p>
            <a:pPr algn="l">
              <a:defRPr sz="750" b="1" i="0">
                <a:solidFill>
                  <a:srgbClr val="C9A84C"/>
                </a:solidFill>
                <a:latin typeface="Arial"/>
              </a:defRPr>
            </a:pPr>
            <a:r>
              <a:t>QUICK TEST — IS IT NUTRITIONAL OR HABITUAL?</a:t>
            </a:r>
          </a:p>
        </p:txBody>
      </p:sp>
      <p:sp>
        <p:nvSpPr>
          <p:cNvPr id="47" name="TextBox 46"/>
          <p:cNvSpPr txBox="1"/>
          <p:nvPr/>
        </p:nvSpPr>
        <p:spPr>
          <a:xfrm>
            <a:off x="936000" y="7811999"/>
            <a:ext cx="5760000" cy="756000"/>
          </a:xfrm>
          <a:prstGeom prst="rect">
            <a:avLst/>
          </a:prstGeom>
          <a:noFill/>
        </p:spPr>
        <p:txBody>
          <a:bodyPr wrap="square" anchor="t">
            <a:spAutoFit/>
          </a:bodyPr>
          <a:lstStyle/>
          <a:p>
            <a:pPr algn="l">
              <a:defRPr sz="950" b="0" i="0">
                <a:solidFill>
                  <a:srgbClr val="0D1B3E"/>
                </a:solidFill>
                <a:latin typeface="Arial"/>
              </a:defRPr>
            </a:pPr>
            <a:r>
              <a:t>If your baby feeds for less than 5 minutes and drifts back to sleep — it's habitual. A truly hungry baby drinks purposefully, transferring real volume. Watch tomorrow night.</a:t>
            </a:r>
          </a:p>
        </p:txBody>
      </p:sp>
      <p:sp>
        <p:nvSpPr>
          <p:cNvPr id="48" name="Rounded Rectangle 47"/>
          <p:cNvSpPr/>
          <p:nvPr/>
        </p:nvSpPr>
        <p:spPr>
          <a:xfrm>
            <a:off x="720000" y="8820000"/>
            <a:ext cx="6120000" cy="900000"/>
          </a:xfrm>
          <a:prstGeom prst="round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20000" y="8820000"/>
            <a:ext cx="72000" cy="900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6000" y="8892000"/>
            <a:ext cx="5760000" cy="144000"/>
          </a:xfrm>
          <a:prstGeom prst="rect">
            <a:avLst/>
          </a:prstGeom>
          <a:noFill/>
        </p:spPr>
        <p:txBody>
          <a:bodyPr wrap="square" anchor="t">
            <a:spAutoFit/>
          </a:bodyPr>
          <a:lstStyle/>
          <a:p>
            <a:pPr algn="l">
              <a:defRPr sz="750" b="1" i="0">
                <a:solidFill>
                  <a:srgbClr val="0D1B3E"/>
                </a:solidFill>
                <a:latin typeface="Arial"/>
              </a:defRPr>
            </a:pPr>
            <a:r>
              <a:t>TURN THE PAGE →</a:t>
            </a:r>
          </a:p>
        </p:txBody>
      </p:sp>
      <p:sp>
        <p:nvSpPr>
          <p:cNvPr id="51" name="TextBox 50"/>
          <p:cNvSpPr txBox="1"/>
          <p:nvPr/>
        </p:nvSpPr>
        <p:spPr>
          <a:xfrm>
            <a:off x="936000" y="9071999"/>
            <a:ext cx="5760000" cy="576000"/>
          </a:xfrm>
          <a:prstGeom prst="rect">
            <a:avLst/>
          </a:prstGeom>
          <a:noFill/>
        </p:spPr>
        <p:txBody>
          <a:bodyPr wrap="square" anchor="t">
            <a:spAutoFit/>
          </a:bodyPr>
          <a:lstStyle/>
          <a:p>
            <a:pPr algn="l">
              <a:defRPr sz="950" b="0" i="0">
                <a:solidFill>
                  <a:srgbClr val="0D1B3E"/>
                </a:solidFill>
                <a:latin typeface="Arial"/>
              </a:defRPr>
            </a:pPr>
            <a:r>
              <a:t>The unlatch technique. The dream feed. Both will change your nights this week.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7560000" cy="46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000"/>
            <a:ext cx="756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
            <a:ext cx="2880000" cy="251999"/>
          </a:xfrm>
          <a:prstGeom prst="rect">
            <a:avLst/>
          </a:prstGeom>
          <a:noFill/>
        </p:spPr>
        <p:txBody>
          <a:bodyPr wrap="square" anchor="t">
            <a:spAutoFit/>
          </a:bodyPr>
          <a:lstStyle/>
          <a:p>
            <a:pPr algn="l">
              <a:defRPr sz="750" b="0" i="0">
                <a:solidFill>
                  <a:srgbClr val="FAF7F2"/>
                </a:solidFill>
                <a:latin typeface="Georgia"/>
              </a:defRPr>
            </a:pPr>
            <a:r>
              <a:t>Sleep, Baby. Please.</a:t>
            </a:r>
          </a:p>
        </p:txBody>
      </p:sp>
      <p:sp>
        <p:nvSpPr>
          <p:cNvPr id="5" name="TextBox 4"/>
          <p:cNvSpPr txBox="1"/>
          <p:nvPr/>
        </p:nvSpPr>
        <p:spPr>
          <a:xfrm>
            <a:off x="3960000" y="108000"/>
            <a:ext cx="2880000" cy="251999"/>
          </a:xfrm>
          <a:prstGeom prst="rect">
            <a:avLst/>
          </a:prstGeom>
          <a:noFill/>
        </p:spPr>
        <p:txBody>
          <a:bodyPr wrap="square" anchor="t">
            <a:spAutoFit/>
          </a:bodyPr>
          <a:lstStyle/>
          <a:p>
            <a:pPr algn="r">
              <a:defRPr sz="750" b="0" i="0">
                <a:solidFill>
                  <a:srgbClr val="E8C97A"/>
                </a:solidFill>
                <a:latin typeface="Arial"/>
              </a:defRPr>
            </a:pPr>
            <a:r>
              <a:t>Two Techniques</a:t>
            </a:r>
          </a:p>
        </p:txBody>
      </p:sp>
      <p:sp>
        <p:nvSpPr>
          <p:cNvPr id="6" name="Rectangle 5"/>
          <p:cNvSpPr/>
          <p:nvPr/>
        </p:nvSpPr>
        <p:spPr>
          <a:xfrm>
            <a:off x="0" y="10116000"/>
            <a:ext cx="7560000" cy="5760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56000" y="10188000"/>
            <a:ext cx="468000" cy="468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000" y="10224000"/>
            <a:ext cx="468000" cy="396000"/>
          </a:xfrm>
          <a:prstGeom prst="rect">
            <a:avLst/>
          </a:prstGeom>
          <a:noFill/>
        </p:spPr>
        <p:txBody>
          <a:bodyPr wrap="square" anchor="ctr">
            <a:spAutoFit/>
          </a:bodyPr>
          <a:lstStyle/>
          <a:p>
            <a:pPr algn="ctr">
              <a:defRPr sz="900" b="1" i="0">
                <a:solidFill>
                  <a:srgbClr val="FFFFFF"/>
                </a:solidFill>
                <a:latin typeface="Arial"/>
              </a:defRPr>
            </a:pPr>
            <a:r>
              <a:t>4</a:t>
            </a:r>
          </a:p>
        </p:txBody>
      </p:sp>
      <p:sp>
        <p:nvSpPr>
          <p:cNvPr id="10" name="TextBox 9"/>
          <p:cNvSpPr txBox="1"/>
          <p:nvPr/>
        </p:nvSpPr>
        <p:spPr>
          <a:xfrm>
            <a:off x="720000" y="10224000"/>
            <a:ext cx="2520000" cy="251999"/>
          </a:xfrm>
          <a:prstGeom prst="rect">
            <a:avLst/>
          </a:prstGeom>
          <a:noFill/>
        </p:spPr>
        <p:txBody>
          <a:bodyPr wrap="square" anchor="t">
            <a:spAutoFit/>
          </a:bodyPr>
          <a:lstStyle/>
          <a:p>
            <a:pPr algn="l">
              <a:defRPr sz="700" b="0" i="0">
                <a:solidFill>
                  <a:srgbClr val="718096"/>
                </a:solidFill>
                <a:latin typeface="Arial"/>
              </a:defRPr>
            </a:pPr>
            <a:r>
              <a:t>Six &amp; Thriving  •  www.sixandthriving.com</a:t>
            </a:r>
          </a:p>
        </p:txBody>
      </p:sp>
      <p:sp>
        <p:nvSpPr>
          <p:cNvPr id="11" name="TextBox 10"/>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
        <p:nvSpPr>
          <p:cNvPr id="12" name="TextBox 11"/>
          <p:cNvSpPr txBox="1"/>
          <p:nvPr/>
        </p:nvSpPr>
        <p:spPr>
          <a:xfrm>
            <a:off x="720000" y="792000"/>
            <a:ext cx="5400000" cy="144000"/>
          </a:xfrm>
          <a:prstGeom prst="rect">
            <a:avLst/>
          </a:prstGeom>
          <a:noFill/>
        </p:spPr>
        <p:txBody>
          <a:bodyPr wrap="square" anchor="t">
            <a:spAutoFit/>
          </a:bodyPr>
          <a:lstStyle/>
          <a:p>
            <a:pPr algn="l">
              <a:defRPr sz="700" b="1" i="0">
                <a:solidFill>
                  <a:srgbClr val="C9A84C"/>
                </a:solidFill>
                <a:latin typeface="Arial"/>
              </a:defRPr>
            </a:pPr>
            <a:r>
              <a:t>TONIGHT'S TOOLKIT</a:t>
            </a:r>
          </a:p>
        </p:txBody>
      </p:sp>
      <p:sp>
        <p:nvSpPr>
          <p:cNvPr id="13" name="Rectangle 12"/>
          <p:cNvSpPr/>
          <p:nvPr/>
        </p:nvSpPr>
        <p:spPr>
          <a:xfrm>
            <a:off x="720000" y="972000"/>
            <a:ext cx="61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1116000"/>
            <a:ext cx="6120000" cy="540000"/>
          </a:xfrm>
          <a:prstGeom prst="rect">
            <a:avLst/>
          </a:prstGeom>
          <a:noFill/>
        </p:spPr>
        <p:txBody>
          <a:bodyPr wrap="square" anchor="t">
            <a:spAutoFit/>
          </a:bodyPr>
          <a:lstStyle/>
          <a:p>
            <a:pPr algn="l">
              <a:defRPr sz="2200" b="1" i="0">
                <a:solidFill>
                  <a:srgbClr val="0D1B3E"/>
                </a:solidFill>
                <a:latin typeface="Georgia"/>
              </a:defRPr>
            </a:pPr>
            <a:r>
              <a:t>Two Techniques That Change Everything</a:t>
            </a:r>
          </a:p>
        </p:txBody>
      </p:sp>
      <p:sp>
        <p:nvSpPr>
          <p:cNvPr id="15" name="TextBox 14"/>
          <p:cNvSpPr txBox="1"/>
          <p:nvPr/>
        </p:nvSpPr>
        <p:spPr>
          <a:xfrm>
            <a:off x="720000" y="1800000"/>
            <a:ext cx="6120000" cy="216000"/>
          </a:xfrm>
          <a:prstGeom prst="rect">
            <a:avLst/>
          </a:prstGeom>
          <a:noFill/>
        </p:spPr>
        <p:txBody>
          <a:bodyPr wrap="square" anchor="t">
            <a:spAutoFit/>
          </a:bodyPr>
          <a:lstStyle/>
          <a:p>
            <a:pPr algn="l">
              <a:defRPr sz="1100" b="0" i="1">
                <a:solidFill>
                  <a:srgbClr val="C9A84C"/>
                </a:solidFill>
                <a:latin typeface="Arial"/>
              </a:defRPr>
            </a:pPr>
            <a:r>
              <a:t>Try one tonight. Try both this week.</a:t>
            </a:r>
          </a:p>
        </p:txBody>
      </p:sp>
      <p:sp>
        <p:nvSpPr>
          <p:cNvPr id="16" name="TextBox 15"/>
          <p:cNvSpPr txBox="1"/>
          <p:nvPr/>
        </p:nvSpPr>
        <p:spPr>
          <a:xfrm>
            <a:off x="720000" y="2268000"/>
            <a:ext cx="6120000" cy="288000"/>
          </a:xfrm>
          <a:prstGeom prst="rect">
            <a:avLst/>
          </a:prstGeom>
          <a:noFill/>
        </p:spPr>
        <p:txBody>
          <a:bodyPr wrap="square" anchor="t">
            <a:spAutoFit/>
          </a:bodyPr>
          <a:lstStyle/>
          <a:p>
            <a:pPr algn="l">
              <a:defRPr sz="1600" b="1" i="0">
                <a:solidFill>
                  <a:srgbClr val="0D1B3E"/>
                </a:solidFill>
                <a:latin typeface="Georgia"/>
              </a:defRPr>
            </a:pPr>
            <a:r>
              <a:t>1.  The Unlatch Technique</a:t>
            </a:r>
          </a:p>
        </p:txBody>
      </p:sp>
      <p:sp>
        <p:nvSpPr>
          <p:cNvPr id="17" name="TextBox 16"/>
          <p:cNvSpPr txBox="1"/>
          <p:nvPr/>
        </p:nvSpPr>
        <p:spPr>
          <a:xfrm>
            <a:off x="720000" y="2628000"/>
            <a:ext cx="6120000" cy="180000"/>
          </a:xfrm>
          <a:prstGeom prst="rect">
            <a:avLst/>
          </a:prstGeom>
          <a:noFill/>
        </p:spPr>
        <p:txBody>
          <a:bodyPr wrap="square" anchor="t">
            <a:spAutoFit/>
          </a:bodyPr>
          <a:lstStyle/>
          <a:p>
            <a:pPr algn="l">
              <a:defRPr sz="1000" b="0" i="1">
                <a:solidFill>
                  <a:srgbClr val="C9A84C"/>
                </a:solidFill>
                <a:latin typeface="Arial"/>
              </a:defRPr>
            </a:pPr>
            <a:r>
              <a:t>How to gently end a comfort feed without waking baby fully.</a:t>
            </a:r>
          </a:p>
        </p:txBody>
      </p:sp>
      <p:sp>
        <p:nvSpPr>
          <p:cNvPr id="18" name="Rounded Rectangle 17"/>
          <p:cNvSpPr/>
          <p:nvPr/>
        </p:nvSpPr>
        <p:spPr>
          <a:xfrm>
            <a:off x="720000" y="2951999"/>
            <a:ext cx="6120000" cy="684000"/>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4000" y="3113999"/>
            <a:ext cx="360000" cy="360000"/>
          </a:xfrm>
          <a:prstGeom prst="ellipse">
            <a:avLst/>
          </a:prstGeom>
          <a:solidFill>
            <a:srgbClr val="2D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4000" y="3131999"/>
            <a:ext cx="360000" cy="324000"/>
          </a:xfrm>
          <a:prstGeom prst="rect">
            <a:avLst/>
          </a:prstGeom>
          <a:noFill/>
        </p:spPr>
        <p:txBody>
          <a:bodyPr wrap="square" anchor="ctr">
            <a:spAutoFit/>
          </a:bodyPr>
          <a:lstStyle/>
          <a:p>
            <a:pPr algn="ctr">
              <a:defRPr sz="1100" b="1" i="0">
                <a:solidFill>
                  <a:srgbClr val="FFFFFF"/>
                </a:solidFill>
                <a:latin typeface="Georgia"/>
              </a:defRPr>
            </a:pPr>
            <a:r>
              <a:t>1</a:t>
            </a:r>
          </a:p>
        </p:txBody>
      </p:sp>
      <p:sp>
        <p:nvSpPr>
          <p:cNvPr id="21" name="TextBox 20"/>
          <p:cNvSpPr txBox="1"/>
          <p:nvPr/>
        </p:nvSpPr>
        <p:spPr>
          <a:xfrm>
            <a:off x="1368000" y="3059999"/>
            <a:ext cx="5400000" cy="216000"/>
          </a:xfrm>
          <a:prstGeom prst="rect">
            <a:avLst/>
          </a:prstGeom>
          <a:noFill/>
        </p:spPr>
        <p:txBody>
          <a:bodyPr wrap="square" anchor="t">
            <a:spAutoFit/>
          </a:bodyPr>
          <a:lstStyle/>
          <a:p>
            <a:pPr algn="l">
              <a:defRPr sz="1100" b="1" i="0">
                <a:solidFill>
                  <a:srgbClr val="0D1B3E"/>
                </a:solidFill>
                <a:latin typeface="Arial"/>
              </a:defRPr>
            </a:pPr>
            <a:r>
              <a:t>Watch for the flutter-suck</a:t>
            </a:r>
          </a:p>
        </p:txBody>
      </p:sp>
      <p:sp>
        <p:nvSpPr>
          <p:cNvPr id="22" name="TextBox 21"/>
          <p:cNvSpPr txBox="1"/>
          <p:nvPr/>
        </p:nvSpPr>
        <p:spPr>
          <a:xfrm>
            <a:off x="1368000" y="3311999"/>
            <a:ext cx="5400000" cy="288000"/>
          </a:xfrm>
          <a:prstGeom prst="rect">
            <a:avLst/>
          </a:prstGeom>
          <a:noFill/>
        </p:spPr>
        <p:txBody>
          <a:bodyPr wrap="square" anchor="t">
            <a:spAutoFit/>
          </a:bodyPr>
          <a:lstStyle/>
          <a:p>
            <a:pPr algn="l">
              <a:defRPr sz="950" b="0" i="0">
                <a:solidFill>
                  <a:srgbClr val="4A5568"/>
                </a:solidFill>
                <a:latin typeface="Arial"/>
              </a:defRPr>
            </a:pPr>
            <a:r>
              <a:t>Slow, gentle, no swallowing. That's the comfort phase, not nutrition.</a:t>
            </a:r>
          </a:p>
        </p:txBody>
      </p:sp>
      <p:sp>
        <p:nvSpPr>
          <p:cNvPr id="23" name="Rounded Rectangle 22"/>
          <p:cNvSpPr/>
          <p:nvPr/>
        </p:nvSpPr>
        <p:spPr>
          <a:xfrm>
            <a:off x="720000" y="3689998"/>
            <a:ext cx="6120000" cy="684000"/>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64000" y="3851998"/>
            <a:ext cx="360000" cy="360000"/>
          </a:xfrm>
          <a:prstGeom prst="ellipse">
            <a:avLst/>
          </a:prstGeom>
          <a:solidFill>
            <a:srgbClr val="2D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000" y="3869998"/>
            <a:ext cx="360000" cy="324000"/>
          </a:xfrm>
          <a:prstGeom prst="rect">
            <a:avLst/>
          </a:prstGeom>
          <a:noFill/>
        </p:spPr>
        <p:txBody>
          <a:bodyPr wrap="square" anchor="ctr">
            <a:spAutoFit/>
          </a:bodyPr>
          <a:lstStyle/>
          <a:p>
            <a:pPr algn="ctr">
              <a:defRPr sz="1100" b="1" i="0">
                <a:solidFill>
                  <a:srgbClr val="FFFFFF"/>
                </a:solidFill>
                <a:latin typeface="Georgia"/>
              </a:defRPr>
            </a:pPr>
            <a:r>
              <a:t>2</a:t>
            </a:r>
          </a:p>
        </p:txBody>
      </p:sp>
      <p:sp>
        <p:nvSpPr>
          <p:cNvPr id="26" name="TextBox 25"/>
          <p:cNvSpPr txBox="1"/>
          <p:nvPr/>
        </p:nvSpPr>
        <p:spPr>
          <a:xfrm>
            <a:off x="1368000" y="3797998"/>
            <a:ext cx="5400000" cy="216000"/>
          </a:xfrm>
          <a:prstGeom prst="rect">
            <a:avLst/>
          </a:prstGeom>
          <a:noFill/>
        </p:spPr>
        <p:txBody>
          <a:bodyPr wrap="square" anchor="t">
            <a:spAutoFit/>
          </a:bodyPr>
          <a:lstStyle/>
          <a:p>
            <a:pPr algn="l">
              <a:defRPr sz="1100" b="1" i="0">
                <a:solidFill>
                  <a:srgbClr val="0D1B3E"/>
                </a:solidFill>
                <a:latin typeface="Arial"/>
              </a:defRPr>
            </a:pPr>
            <a:r>
              <a:t>Slip your finger in</a:t>
            </a:r>
          </a:p>
        </p:txBody>
      </p:sp>
      <p:sp>
        <p:nvSpPr>
          <p:cNvPr id="27" name="TextBox 26"/>
          <p:cNvSpPr txBox="1"/>
          <p:nvPr/>
        </p:nvSpPr>
        <p:spPr>
          <a:xfrm>
            <a:off x="1368000" y="4049998"/>
            <a:ext cx="5400000" cy="288000"/>
          </a:xfrm>
          <a:prstGeom prst="rect">
            <a:avLst/>
          </a:prstGeom>
          <a:noFill/>
        </p:spPr>
        <p:txBody>
          <a:bodyPr wrap="square" anchor="t">
            <a:spAutoFit/>
          </a:bodyPr>
          <a:lstStyle/>
          <a:p>
            <a:pPr algn="l">
              <a:defRPr sz="950" b="0" i="0">
                <a:solidFill>
                  <a:srgbClr val="4A5568"/>
                </a:solidFill>
                <a:latin typeface="Arial"/>
              </a:defRPr>
            </a:pPr>
            <a:r>
              <a:t>Gently into the corner of baby's mouth. Break suction softly.</a:t>
            </a:r>
          </a:p>
        </p:txBody>
      </p:sp>
      <p:sp>
        <p:nvSpPr>
          <p:cNvPr id="28" name="Rounded Rectangle 27"/>
          <p:cNvSpPr/>
          <p:nvPr/>
        </p:nvSpPr>
        <p:spPr>
          <a:xfrm>
            <a:off x="720000" y="4427997"/>
            <a:ext cx="6120000" cy="684000"/>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64000" y="4589997"/>
            <a:ext cx="360000" cy="360000"/>
          </a:xfrm>
          <a:prstGeom prst="ellipse">
            <a:avLst/>
          </a:prstGeom>
          <a:solidFill>
            <a:srgbClr val="2D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4000" y="4607997"/>
            <a:ext cx="360000" cy="324000"/>
          </a:xfrm>
          <a:prstGeom prst="rect">
            <a:avLst/>
          </a:prstGeom>
          <a:noFill/>
        </p:spPr>
        <p:txBody>
          <a:bodyPr wrap="square" anchor="ctr">
            <a:spAutoFit/>
          </a:bodyPr>
          <a:lstStyle/>
          <a:p>
            <a:pPr algn="ctr">
              <a:defRPr sz="1100" b="1" i="0">
                <a:solidFill>
                  <a:srgbClr val="FFFFFF"/>
                </a:solidFill>
                <a:latin typeface="Georgia"/>
              </a:defRPr>
            </a:pPr>
            <a:r>
              <a:t>3</a:t>
            </a:r>
          </a:p>
        </p:txBody>
      </p:sp>
      <p:sp>
        <p:nvSpPr>
          <p:cNvPr id="31" name="TextBox 30"/>
          <p:cNvSpPr txBox="1"/>
          <p:nvPr/>
        </p:nvSpPr>
        <p:spPr>
          <a:xfrm>
            <a:off x="1368000" y="4535997"/>
            <a:ext cx="5400000" cy="216000"/>
          </a:xfrm>
          <a:prstGeom prst="rect">
            <a:avLst/>
          </a:prstGeom>
          <a:noFill/>
        </p:spPr>
        <p:txBody>
          <a:bodyPr wrap="square" anchor="t">
            <a:spAutoFit/>
          </a:bodyPr>
          <a:lstStyle/>
          <a:p>
            <a:pPr algn="l">
              <a:defRPr sz="1100" b="1" i="0">
                <a:solidFill>
                  <a:srgbClr val="0D1B3E"/>
                </a:solidFill>
                <a:latin typeface="Arial"/>
              </a:defRPr>
            </a:pPr>
            <a:r>
              <a:t>Sit baby up briefly</a:t>
            </a:r>
          </a:p>
        </p:txBody>
      </p:sp>
      <p:sp>
        <p:nvSpPr>
          <p:cNvPr id="32" name="TextBox 31"/>
          <p:cNvSpPr txBox="1"/>
          <p:nvPr/>
        </p:nvSpPr>
        <p:spPr>
          <a:xfrm>
            <a:off x="1368000" y="4787997"/>
            <a:ext cx="5400000" cy="288000"/>
          </a:xfrm>
          <a:prstGeom prst="rect">
            <a:avLst/>
          </a:prstGeom>
          <a:noFill/>
        </p:spPr>
        <p:txBody>
          <a:bodyPr wrap="square" anchor="t">
            <a:spAutoFit/>
          </a:bodyPr>
          <a:lstStyle/>
          <a:p>
            <a:pPr algn="l">
              <a:defRPr sz="950" b="0" i="0">
                <a:solidFill>
                  <a:srgbClr val="4A5568"/>
                </a:solidFill>
                <a:latin typeface="Arial"/>
              </a:defRPr>
            </a:pPr>
            <a:r>
              <a:t>Just enough to rouse them to drowsy — NOT fully awake.</a:t>
            </a:r>
          </a:p>
        </p:txBody>
      </p:sp>
      <p:sp>
        <p:nvSpPr>
          <p:cNvPr id="33" name="Rounded Rectangle 32"/>
          <p:cNvSpPr/>
          <p:nvPr/>
        </p:nvSpPr>
        <p:spPr>
          <a:xfrm>
            <a:off x="720000" y="5165996"/>
            <a:ext cx="6120000" cy="684000"/>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64000" y="5327996"/>
            <a:ext cx="360000" cy="360000"/>
          </a:xfrm>
          <a:prstGeom prst="ellipse">
            <a:avLst/>
          </a:prstGeom>
          <a:solidFill>
            <a:srgbClr val="2D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000" y="5345996"/>
            <a:ext cx="360000" cy="324000"/>
          </a:xfrm>
          <a:prstGeom prst="rect">
            <a:avLst/>
          </a:prstGeom>
          <a:noFill/>
        </p:spPr>
        <p:txBody>
          <a:bodyPr wrap="square" anchor="ctr">
            <a:spAutoFit/>
          </a:bodyPr>
          <a:lstStyle/>
          <a:p>
            <a:pPr algn="ctr">
              <a:defRPr sz="1100" b="1" i="0">
                <a:solidFill>
                  <a:srgbClr val="FFFFFF"/>
                </a:solidFill>
                <a:latin typeface="Georgia"/>
              </a:defRPr>
            </a:pPr>
            <a:r>
              <a:t>4</a:t>
            </a:r>
          </a:p>
        </p:txBody>
      </p:sp>
      <p:sp>
        <p:nvSpPr>
          <p:cNvPr id="36" name="TextBox 35"/>
          <p:cNvSpPr txBox="1"/>
          <p:nvPr/>
        </p:nvSpPr>
        <p:spPr>
          <a:xfrm>
            <a:off x="1368000" y="5273996"/>
            <a:ext cx="5400000" cy="216000"/>
          </a:xfrm>
          <a:prstGeom prst="rect">
            <a:avLst/>
          </a:prstGeom>
          <a:noFill/>
        </p:spPr>
        <p:txBody>
          <a:bodyPr wrap="square" anchor="t">
            <a:spAutoFit/>
          </a:bodyPr>
          <a:lstStyle/>
          <a:p>
            <a:pPr algn="l">
              <a:defRPr sz="1100" b="1" i="0">
                <a:solidFill>
                  <a:srgbClr val="0D1B3E"/>
                </a:solidFill>
                <a:latin typeface="Arial"/>
              </a:defRPr>
            </a:pPr>
            <a:r>
              <a:t>Place in crib awake</a:t>
            </a:r>
          </a:p>
        </p:txBody>
      </p:sp>
      <p:sp>
        <p:nvSpPr>
          <p:cNvPr id="37" name="TextBox 36"/>
          <p:cNvSpPr txBox="1"/>
          <p:nvPr/>
        </p:nvSpPr>
        <p:spPr>
          <a:xfrm>
            <a:off x="1368000" y="5525996"/>
            <a:ext cx="5400000" cy="288000"/>
          </a:xfrm>
          <a:prstGeom prst="rect">
            <a:avLst/>
          </a:prstGeom>
          <a:noFill/>
        </p:spPr>
        <p:txBody>
          <a:bodyPr wrap="square" anchor="t">
            <a:spAutoFit/>
          </a:bodyPr>
          <a:lstStyle/>
          <a:p>
            <a:pPr algn="l">
              <a:defRPr sz="950" b="0" i="0">
                <a:solidFill>
                  <a:srgbClr val="4A5568"/>
                </a:solidFill>
                <a:latin typeface="Arial"/>
              </a:defRPr>
            </a:pPr>
            <a:r>
              <a:t>A calm phrase. A kiss. Walk out. The feed-to-sleep link breaks here.</a:t>
            </a:r>
          </a:p>
        </p:txBody>
      </p:sp>
      <p:sp>
        <p:nvSpPr>
          <p:cNvPr id="38" name="TextBox 37"/>
          <p:cNvSpPr txBox="1"/>
          <p:nvPr/>
        </p:nvSpPr>
        <p:spPr>
          <a:xfrm>
            <a:off x="720000" y="6120000"/>
            <a:ext cx="6120000" cy="288000"/>
          </a:xfrm>
          <a:prstGeom prst="rect">
            <a:avLst/>
          </a:prstGeom>
          <a:noFill/>
        </p:spPr>
        <p:txBody>
          <a:bodyPr wrap="square" anchor="t">
            <a:spAutoFit/>
          </a:bodyPr>
          <a:lstStyle/>
          <a:p>
            <a:pPr algn="l">
              <a:defRPr sz="1600" b="1" i="0">
                <a:solidFill>
                  <a:srgbClr val="0D1B3E"/>
                </a:solidFill>
                <a:latin typeface="Georgia"/>
              </a:defRPr>
            </a:pPr>
            <a:r>
              <a:t>2.  The Dream Feed</a:t>
            </a:r>
          </a:p>
        </p:txBody>
      </p:sp>
      <p:sp>
        <p:nvSpPr>
          <p:cNvPr id="39" name="TextBox 38"/>
          <p:cNvSpPr txBox="1"/>
          <p:nvPr/>
        </p:nvSpPr>
        <p:spPr>
          <a:xfrm>
            <a:off x="720000" y="6480000"/>
            <a:ext cx="6120000" cy="180000"/>
          </a:xfrm>
          <a:prstGeom prst="rect">
            <a:avLst/>
          </a:prstGeom>
          <a:noFill/>
        </p:spPr>
        <p:txBody>
          <a:bodyPr wrap="square" anchor="t">
            <a:spAutoFit/>
          </a:bodyPr>
          <a:lstStyle/>
          <a:p>
            <a:pPr algn="l">
              <a:defRPr sz="1000" b="0" i="1">
                <a:solidFill>
                  <a:srgbClr val="C9A84C"/>
                </a:solidFill>
                <a:latin typeface="Arial"/>
              </a:defRPr>
            </a:pPr>
            <a:r>
              <a:t>How to add 1–2 hours to your first stretch tonight.</a:t>
            </a:r>
          </a:p>
        </p:txBody>
      </p:sp>
      <p:sp>
        <p:nvSpPr>
          <p:cNvPr id="40" name="Rounded Rectangle 39"/>
          <p:cNvSpPr/>
          <p:nvPr/>
        </p:nvSpPr>
        <p:spPr>
          <a:xfrm>
            <a:off x="720000" y="6768000"/>
            <a:ext cx="6120000" cy="2520000"/>
          </a:xfrm>
          <a:prstGeom prst="round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20000" y="6768000"/>
            <a:ext cx="90000" cy="2520000"/>
          </a:xfrm>
          <a:prstGeom prst="rect">
            <a:avLst/>
          </a:prstGeom>
          <a:solidFill>
            <a:srgbClr val="27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6000" y="6876000"/>
            <a:ext cx="5760000" cy="180000"/>
          </a:xfrm>
          <a:prstGeom prst="rect">
            <a:avLst/>
          </a:prstGeom>
          <a:noFill/>
        </p:spPr>
        <p:txBody>
          <a:bodyPr wrap="square" anchor="t">
            <a:spAutoFit/>
          </a:bodyPr>
          <a:lstStyle/>
          <a:p>
            <a:pPr algn="l">
              <a:defRPr sz="800" b="1" i="0">
                <a:solidFill>
                  <a:srgbClr val="276749"/>
                </a:solidFill>
                <a:latin typeface="Arial"/>
              </a:defRPr>
            </a:pPr>
            <a:r>
              <a:t>OFFER AT 10–11 PM, BEFORE YOU GO TO BED</a:t>
            </a:r>
          </a:p>
        </p:txBody>
      </p:sp>
      <p:sp>
        <p:nvSpPr>
          <p:cNvPr id="43" name="TextBox 42"/>
          <p:cNvSpPr txBox="1"/>
          <p:nvPr/>
        </p:nvSpPr>
        <p:spPr>
          <a:xfrm>
            <a:off x="1080000" y="7128000"/>
            <a:ext cx="144000" cy="180000"/>
          </a:xfrm>
          <a:prstGeom prst="rect">
            <a:avLst/>
          </a:prstGeom>
          <a:noFill/>
        </p:spPr>
        <p:txBody>
          <a:bodyPr wrap="square" anchor="t">
            <a:spAutoFit/>
          </a:bodyPr>
          <a:lstStyle/>
          <a:p>
            <a:pPr algn="l">
              <a:defRPr sz="1100" b="1" i="0">
                <a:solidFill>
                  <a:srgbClr val="276749"/>
                </a:solidFill>
                <a:latin typeface="Arial"/>
              </a:defRPr>
            </a:pPr>
            <a:r>
              <a:t>✓</a:t>
            </a:r>
          </a:p>
        </p:txBody>
      </p:sp>
      <p:sp>
        <p:nvSpPr>
          <p:cNvPr id="44" name="TextBox 43"/>
          <p:cNvSpPr txBox="1"/>
          <p:nvPr/>
        </p:nvSpPr>
        <p:spPr>
          <a:xfrm>
            <a:off x="1260000" y="7128000"/>
            <a:ext cx="5400000" cy="180000"/>
          </a:xfrm>
          <a:prstGeom prst="rect">
            <a:avLst/>
          </a:prstGeom>
          <a:noFill/>
        </p:spPr>
        <p:txBody>
          <a:bodyPr wrap="square" anchor="t">
            <a:spAutoFit/>
          </a:bodyPr>
          <a:lstStyle/>
          <a:p>
            <a:pPr algn="l">
              <a:defRPr sz="1000" b="0" i="0">
                <a:solidFill>
                  <a:srgbClr val="4A5568"/>
                </a:solidFill>
                <a:latin typeface="Arial"/>
              </a:defRPr>
            </a:pPr>
            <a:r>
              <a:t>Lights stay OFF. No talking. No diaper change unless soiled.</a:t>
            </a:r>
          </a:p>
        </p:txBody>
      </p:sp>
      <p:sp>
        <p:nvSpPr>
          <p:cNvPr id="45" name="TextBox 44"/>
          <p:cNvSpPr txBox="1"/>
          <p:nvPr/>
        </p:nvSpPr>
        <p:spPr>
          <a:xfrm>
            <a:off x="1080000" y="7488000"/>
            <a:ext cx="144000" cy="180000"/>
          </a:xfrm>
          <a:prstGeom prst="rect">
            <a:avLst/>
          </a:prstGeom>
          <a:noFill/>
        </p:spPr>
        <p:txBody>
          <a:bodyPr wrap="square" anchor="t">
            <a:spAutoFit/>
          </a:bodyPr>
          <a:lstStyle/>
          <a:p>
            <a:pPr algn="l">
              <a:defRPr sz="1100" b="1" i="0">
                <a:solidFill>
                  <a:srgbClr val="276749"/>
                </a:solidFill>
                <a:latin typeface="Arial"/>
              </a:defRPr>
            </a:pPr>
            <a:r>
              <a:t>✓</a:t>
            </a:r>
          </a:p>
        </p:txBody>
      </p:sp>
      <p:sp>
        <p:nvSpPr>
          <p:cNvPr id="46" name="TextBox 45"/>
          <p:cNvSpPr txBox="1"/>
          <p:nvPr/>
        </p:nvSpPr>
        <p:spPr>
          <a:xfrm>
            <a:off x="1260000" y="7488000"/>
            <a:ext cx="5400000" cy="180000"/>
          </a:xfrm>
          <a:prstGeom prst="rect">
            <a:avLst/>
          </a:prstGeom>
          <a:noFill/>
        </p:spPr>
        <p:txBody>
          <a:bodyPr wrap="square" anchor="t">
            <a:spAutoFit/>
          </a:bodyPr>
          <a:lstStyle/>
          <a:p>
            <a:pPr algn="l">
              <a:defRPr sz="1000" b="0" i="0">
                <a:solidFill>
                  <a:srgbClr val="4A5568"/>
                </a:solidFill>
                <a:latin typeface="Arial"/>
              </a:defRPr>
            </a:pPr>
            <a:r>
              <a:t>Gently lift baby — keep them in a drowsy state.</a:t>
            </a:r>
          </a:p>
        </p:txBody>
      </p:sp>
      <p:sp>
        <p:nvSpPr>
          <p:cNvPr id="47" name="TextBox 46"/>
          <p:cNvSpPr txBox="1"/>
          <p:nvPr/>
        </p:nvSpPr>
        <p:spPr>
          <a:xfrm>
            <a:off x="1080000" y="7848000"/>
            <a:ext cx="144000" cy="180000"/>
          </a:xfrm>
          <a:prstGeom prst="rect">
            <a:avLst/>
          </a:prstGeom>
          <a:noFill/>
        </p:spPr>
        <p:txBody>
          <a:bodyPr wrap="square" anchor="t">
            <a:spAutoFit/>
          </a:bodyPr>
          <a:lstStyle/>
          <a:p>
            <a:pPr algn="l">
              <a:defRPr sz="1100" b="1" i="0">
                <a:solidFill>
                  <a:srgbClr val="276749"/>
                </a:solidFill>
                <a:latin typeface="Arial"/>
              </a:defRPr>
            </a:pPr>
            <a:r>
              <a:t>✓</a:t>
            </a:r>
          </a:p>
        </p:txBody>
      </p:sp>
      <p:sp>
        <p:nvSpPr>
          <p:cNvPr id="48" name="TextBox 47"/>
          <p:cNvSpPr txBox="1"/>
          <p:nvPr/>
        </p:nvSpPr>
        <p:spPr>
          <a:xfrm>
            <a:off x="1260000" y="7848000"/>
            <a:ext cx="5400000" cy="180000"/>
          </a:xfrm>
          <a:prstGeom prst="rect">
            <a:avLst/>
          </a:prstGeom>
          <a:noFill/>
        </p:spPr>
        <p:txBody>
          <a:bodyPr wrap="square" anchor="t">
            <a:spAutoFit/>
          </a:bodyPr>
          <a:lstStyle/>
          <a:p>
            <a:pPr algn="l">
              <a:defRPr sz="1000" b="0" i="0">
                <a:solidFill>
                  <a:srgbClr val="4A5568"/>
                </a:solidFill>
                <a:latin typeface="Arial"/>
              </a:defRPr>
            </a:pPr>
            <a:r>
              <a:t>Latch them. Let them feed for 5–8 minutes.</a:t>
            </a:r>
          </a:p>
        </p:txBody>
      </p:sp>
      <p:sp>
        <p:nvSpPr>
          <p:cNvPr id="49" name="TextBox 48"/>
          <p:cNvSpPr txBox="1"/>
          <p:nvPr/>
        </p:nvSpPr>
        <p:spPr>
          <a:xfrm>
            <a:off x="1080000" y="8208000"/>
            <a:ext cx="144000" cy="180000"/>
          </a:xfrm>
          <a:prstGeom prst="rect">
            <a:avLst/>
          </a:prstGeom>
          <a:noFill/>
        </p:spPr>
        <p:txBody>
          <a:bodyPr wrap="square" anchor="t">
            <a:spAutoFit/>
          </a:bodyPr>
          <a:lstStyle/>
          <a:p>
            <a:pPr algn="l">
              <a:defRPr sz="1100" b="1" i="0">
                <a:solidFill>
                  <a:srgbClr val="276749"/>
                </a:solidFill>
                <a:latin typeface="Arial"/>
              </a:defRPr>
            </a:pPr>
            <a:r>
              <a:t>✓</a:t>
            </a:r>
          </a:p>
        </p:txBody>
      </p:sp>
      <p:sp>
        <p:nvSpPr>
          <p:cNvPr id="50" name="TextBox 49"/>
          <p:cNvSpPr txBox="1"/>
          <p:nvPr/>
        </p:nvSpPr>
        <p:spPr>
          <a:xfrm>
            <a:off x="1260000" y="8208000"/>
            <a:ext cx="5400000" cy="180000"/>
          </a:xfrm>
          <a:prstGeom prst="rect">
            <a:avLst/>
          </a:prstGeom>
          <a:noFill/>
        </p:spPr>
        <p:txBody>
          <a:bodyPr wrap="square" anchor="t">
            <a:spAutoFit/>
          </a:bodyPr>
          <a:lstStyle/>
          <a:p>
            <a:pPr algn="l">
              <a:defRPr sz="1000" b="0" i="0">
                <a:solidFill>
                  <a:srgbClr val="4A5568"/>
                </a:solidFill>
                <a:latin typeface="Arial"/>
              </a:defRPr>
            </a:pPr>
            <a:r>
              <a:t>Place back in crib. They often don't fully wake.</a:t>
            </a:r>
          </a:p>
        </p:txBody>
      </p:sp>
      <p:sp>
        <p:nvSpPr>
          <p:cNvPr id="51" name="TextBox 50"/>
          <p:cNvSpPr txBox="1"/>
          <p:nvPr/>
        </p:nvSpPr>
        <p:spPr>
          <a:xfrm>
            <a:off x="1080000" y="8568000"/>
            <a:ext cx="144000" cy="180000"/>
          </a:xfrm>
          <a:prstGeom prst="rect">
            <a:avLst/>
          </a:prstGeom>
          <a:noFill/>
        </p:spPr>
        <p:txBody>
          <a:bodyPr wrap="square" anchor="t">
            <a:spAutoFit/>
          </a:bodyPr>
          <a:lstStyle/>
          <a:p>
            <a:pPr algn="l">
              <a:defRPr sz="1100" b="1" i="0">
                <a:solidFill>
                  <a:srgbClr val="276749"/>
                </a:solidFill>
                <a:latin typeface="Arial"/>
              </a:defRPr>
            </a:pPr>
            <a:r>
              <a:t>✓</a:t>
            </a:r>
          </a:p>
        </p:txBody>
      </p:sp>
      <p:sp>
        <p:nvSpPr>
          <p:cNvPr id="52" name="TextBox 51"/>
          <p:cNvSpPr txBox="1"/>
          <p:nvPr/>
        </p:nvSpPr>
        <p:spPr>
          <a:xfrm>
            <a:off x="1260000" y="8568000"/>
            <a:ext cx="5400000" cy="180000"/>
          </a:xfrm>
          <a:prstGeom prst="rect">
            <a:avLst/>
          </a:prstGeom>
          <a:noFill/>
        </p:spPr>
        <p:txBody>
          <a:bodyPr wrap="square" anchor="t">
            <a:spAutoFit/>
          </a:bodyPr>
          <a:lstStyle/>
          <a:p>
            <a:pPr algn="l">
              <a:defRPr sz="1000" b="0" i="0">
                <a:solidFill>
                  <a:srgbClr val="4A5568"/>
                </a:solidFill>
                <a:latin typeface="Arial"/>
              </a:defRPr>
            </a:pPr>
            <a:r>
              <a:t>Use it for 2–3 weeks. Drop it when baby is sleeping through.</a:t>
            </a:r>
          </a:p>
        </p:txBody>
      </p:sp>
      <p:sp>
        <p:nvSpPr>
          <p:cNvPr id="53" name="Rounded Rectangle 52"/>
          <p:cNvSpPr/>
          <p:nvPr/>
        </p:nvSpPr>
        <p:spPr>
          <a:xfrm>
            <a:off x="720000" y="9432000"/>
            <a:ext cx="6120000" cy="576000"/>
          </a:xfrm>
          <a:prstGeom prst="roundRect">
            <a:avLst/>
          </a:prstGeom>
          <a:solidFill>
            <a:srgbClr val="FEF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20000" y="9432000"/>
            <a:ext cx="72000" cy="57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6000" y="9504000"/>
            <a:ext cx="5760000" cy="144000"/>
          </a:xfrm>
          <a:prstGeom prst="rect">
            <a:avLst/>
          </a:prstGeom>
          <a:noFill/>
        </p:spPr>
        <p:txBody>
          <a:bodyPr wrap="square" anchor="t">
            <a:spAutoFit/>
          </a:bodyPr>
          <a:lstStyle/>
          <a:p>
            <a:pPr algn="l">
              <a:defRPr sz="750" b="1" i="0">
                <a:solidFill>
                  <a:srgbClr val="C9A84C"/>
                </a:solidFill>
                <a:latin typeface="Arial"/>
              </a:defRPr>
            </a:pPr>
            <a:r>
              <a:t>REPEAT IF NEEDED</a:t>
            </a:r>
          </a:p>
        </p:txBody>
      </p:sp>
      <p:sp>
        <p:nvSpPr>
          <p:cNvPr id="56" name="TextBox 55"/>
          <p:cNvSpPr txBox="1"/>
          <p:nvPr/>
        </p:nvSpPr>
        <p:spPr>
          <a:xfrm>
            <a:off x="936000" y="9683999"/>
            <a:ext cx="5760000" cy="252000"/>
          </a:xfrm>
          <a:prstGeom prst="rect">
            <a:avLst/>
          </a:prstGeom>
          <a:noFill/>
        </p:spPr>
        <p:txBody>
          <a:bodyPr wrap="square" anchor="t">
            <a:spAutoFit/>
          </a:bodyPr>
          <a:lstStyle/>
          <a:p>
            <a:pPr algn="l">
              <a:defRPr sz="950" b="0" i="0">
                <a:solidFill>
                  <a:srgbClr val="0D1B3E"/>
                </a:solidFill>
                <a:latin typeface="Arial"/>
              </a:defRPr>
            </a:pPr>
            <a:r>
              <a:t>Your supply will adjust within 3–5 days. Your baby will still nurse. You will still bond. You will just be sleeping.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7560000" cy="46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000"/>
            <a:ext cx="756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
            <a:ext cx="2880000" cy="251999"/>
          </a:xfrm>
          <a:prstGeom prst="rect">
            <a:avLst/>
          </a:prstGeom>
          <a:noFill/>
        </p:spPr>
        <p:txBody>
          <a:bodyPr wrap="square" anchor="t">
            <a:spAutoFit/>
          </a:bodyPr>
          <a:lstStyle/>
          <a:p>
            <a:pPr algn="l">
              <a:defRPr sz="750" b="0" i="0">
                <a:solidFill>
                  <a:srgbClr val="FAF7F2"/>
                </a:solidFill>
                <a:latin typeface="Georgia"/>
              </a:defRPr>
            </a:pPr>
            <a:r>
              <a:t>Sleep, Baby. Please.</a:t>
            </a:r>
          </a:p>
        </p:txBody>
      </p:sp>
      <p:sp>
        <p:nvSpPr>
          <p:cNvPr id="5" name="TextBox 4"/>
          <p:cNvSpPr txBox="1"/>
          <p:nvPr/>
        </p:nvSpPr>
        <p:spPr>
          <a:xfrm>
            <a:off x="3960000" y="108000"/>
            <a:ext cx="2880000" cy="251999"/>
          </a:xfrm>
          <a:prstGeom prst="rect">
            <a:avLst/>
          </a:prstGeom>
          <a:noFill/>
        </p:spPr>
        <p:txBody>
          <a:bodyPr wrap="square" anchor="t">
            <a:spAutoFit/>
          </a:bodyPr>
          <a:lstStyle/>
          <a:p>
            <a:pPr algn="r">
              <a:defRPr sz="750" b="0" i="0">
                <a:solidFill>
                  <a:srgbClr val="E8C97A"/>
                </a:solidFill>
                <a:latin typeface="Arial"/>
              </a:defRPr>
            </a:pPr>
            <a:r>
              <a:t>Common Questions</a:t>
            </a:r>
          </a:p>
        </p:txBody>
      </p:sp>
      <p:sp>
        <p:nvSpPr>
          <p:cNvPr id="6" name="Rectangle 5"/>
          <p:cNvSpPr/>
          <p:nvPr/>
        </p:nvSpPr>
        <p:spPr>
          <a:xfrm>
            <a:off x="0" y="10116000"/>
            <a:ext cx="7560000" cy="5760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56000" y="10188000"/>
            <a:ext cx="468000" cy="468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000" y="10224000"/>
            <a:ext cx="468000" cy="396000"/>
          </a:xfrm>
          <a:prstGeom prst="rect">
            <a:avLst/>
          </a:prstGeom>
          <a:noFill/>
        </p:spPr>
        <p:txBody>
          <a:bodyPr wrap="square" anchor="ctr">
            <a:spAutoFit/>
          </a:bodyPr>
          <a:lstStyle/>
          <a:p>
            <a:pPr algn="ctr">
              <a:defRPr sz="900" b="1" i="0">
                <a:solidFill>
                  <a:srgbClr val="FFFFFF"/>
                </a:solidFill>
                <a:latin typeface="Arial"/>
              </a:defRPr>
            </a:pPr>
            <a:r>
              <a:t>5</a:t>
            </a:r>
          </a:p>
        </p:txBody>
      </p:sp>
      <p:sp>
        <p:nvSpPr>
          <p:cNvPr id="10" name="TextBox 9"/>
          <p:cNvSpPr txBox="1"/>
          <p:nvPr/>
        </p:nvSpPr>
        <p:spPr>
          <a:xfrm>
            <a:off x="720000" y="10224000"/>
            <a:ext cx="2520000" cy="251999"/>
          </a:xfrm>
          <a:prstGeom prst="rect">
            <a:avLst/>
          </a:prstGeom>
          <a:noFill/>
        </p:spPr>
        <p:txBody>
          <a:bodyPr wrap="square" anchor="t">
            <a:spAutoFit/>
          </a:bodyPr>
          <a:lstStyle/>
          <a:p>
            <a:pPr algn="l">
              <a:defRPr sz="700" b="0" i="0">
                <a:solidFill>
                  <a:srgbClr val="718096"/>
                </a:solidFill>
                <a:latin typeface="Arial"/>
              </a:defRPr>
            </a:pPr>
            <a:r>
              <a:t>Six &amp; Thriving  •  www.sixandthriving.com</a:t>
            </a:r>
          </a:p>
        </p:txBody>
      </p:sp>
      <p:sp>
        <p:nvSpPr>
          <p:cNvPr id="11" name="TextBox 10"/>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
        <p:nvSpPr>
          <p:cNvPr id="12" name="TextBox 11"/>
          <p:cNvSpPr txBox="1"/>
          <p:nvPr/>
        </p:nvSpPr>
        <p:spPr>
          <a:xfrm>
            <a:off x="720000" y="792000"/>
            <a:ext cx="5400000" cy="144000"/>
          </a:xfrm>
          <a:prstGeom prst="rect">
            <a:avLst/>
          </a:prstGeom>
          <a:noFill/>
        </p:spPr>
        <p:txBody>
          <a:bodyPr wrap="square" anchor="t">
            <a:spAutoFit/>
          </a:bodyPr>
          <a:lstStyle/>
          <a:p>
            <a:pPr algn="l">
              <a:defRPr sz="700" b="1" i="0">
                <a:solidFill>
                  <a:srgbClr val="C9A84C"/>
                </a:solidFill>
                <a:latin typeface="Arial"/>
              </a:defRPr>
            </a:pPr>
            <a:r>
              <a:t>WHAT EVERY BREASTFEEDING MOM ASKS</a:t>
            </a:r>
          </a:p>
        </p:txBody>
      </p:sp>
      <p:sp>
        <p:nvSpPr>
          <p:cNvPr id="13" name="Rectangle 12"/>
          <p:cNvSpPr/>
          <p:nvPr/>
        </p:nvSpPr>
        <p:spPr>
          <a:xfrm>
            <a:off x="720000" y="972000"/>
            <a:ext cx="61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1116000"/>
            <a:ext cx="6120000" cy="540000"/>
          </a:xfrm>
          <a:prstGeom prst="rect">
            <a:avLst/>
          </a:prstGeom>
          <a:noFill/>
        </p:spPr>
        <p:txBody>
          <a:bodyPr wrap="square" anchor="t">
            <a:spAutoFit/>
          </a:bodyPr>
          <a:lstStyle/>
          <a:p>
            <a:pPr algn="l">
              <a:defRPr sz="2200" b="1" i="0">
                <a:solidFill>
                  <a:srgbClr val="0D1B3E"/>
                </a:solidFill>
                <a:latin typeface="Georgia"/>
              </a:defRPr>
            </a:pPr>
            <a:r>
              <a:t>Real Questions, Honest Answers</a:t>
            </a:r>
          </a:p>
        </p:txBody>
      </p:sp>
      <p:sp>
        <p:nvSpPr>
          <p:cNvPr id="15" name="TextBox 14"/>
          <p:cNvSpPr txBox="1"/>
          <p:nvPr/>
        </p:nvSpPr>
        <p:spPr>
          <a:xfrm>
            <a:off x="720000" y="1800000"/>
            <a:ext cx="6120000" cy="216000"/>
          </a:xfrm>
          <a:prstGeom prst="rect">
            <a:avLst/>
          </a:prstGeom>
          <a:noFill/>
        </p:spPr>
        <p:txBody>
          <a:bodyPr wrap="square" anchor="t">
            <a:spAutoFit/>
          </a:bodyPr>
          <a:lstStyle/>
          <a:p>
            <a:pPr algn="l">
              <a:defRPr sz="1100" b="0" i="1">
                <a:solidFill>
                  <a:srgbClr val="C9A84C"/>
                </a:solidFill>
                <a:latin typeface="Arial"/>
              </a:defRPr>
            </a:pPr>
            <a:r>
              <a:t>Asked by hundreds of moms. Answered honestly.</a:t>
            </a:r>
          </a:p>
        </p:txBody>
      </p:sp>
      <p:sp>
        <p:nvSpPr>
          <p:cNvPr id="16" name="Rounded Rectangle 15"/>
          <p:cNvSpPr/>
          <p:nvPr/>
        </p:nvSpPr>
        <p:spPr>
          <a:xfrm>
            <a:off x="720000" y="2304000"/>
            <a:ext cx="6120000" cy="1296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6000" y="2412000"/>
            <a:ext cx="288000" cy="216000"/>
          </a:xfrm>
          <a:prstGeom prst="rect">
            <a:avLst/>
          </a:prstGeom>
          <a:noFill/>
        </p:spPr>
        <p:txBody>
          <a:bodyPr wrap="square" anchor="t">
            <a:spAutoFit/>
          </a:bodyPr>
          <a:lstStyle/>
          <a:p>
            <a:pPr algn="l">
              <a:defRPr sz="1300" b="1" i="0">
                <a:solidFill>
                  <a:srgbClr val="C9A84C"/>
                </a:solidFill>
                <a:latin typeface="Georgia"/>
              </a:defRPr>
            </a:pPr>
            <a:r>
              <a:t>Q.</a:t>
            </a:r>
          </a:p>
        </p:txBody>
      </p:sp>
      <p:sp>
        <p:nvSpPr>
          <p:cNvPr id="18" name="TextBox 17"/>
          <p:cNvSpPr txBox="1"/>
          <p:nvPr/>
        </p:nvSpPr>
        <p:spPr>
          <a:xfrm>
            <a:off x="1260000" y="2429999"/>
            <a:ext cx="5400000" cy="251999"/>
          </a:xfrm>
          <a:prstGeom prst="rect">
            <a:avLst/>
          </a:prstGeom>
          <a:noFill/>
        </p:spPr>
        <p:txBody>
          <a:bodyPr wrap="square" anchor="t">
            <a:spAutoFit/>
          </a:bodyPr>
          <a:lstStyle/>
          <a:p>
            <a:pPr algn="l">
              <a:defRPr sz="1100" b="1" i="0">
                <a:solidFill>
                  <a:srgbClr val="0D1B3E"/>
                </a:solidFill>
                <a:latin typeface="Arial"/>
              </a:defRPr>
            </a:pPr>
            <a:r>
              <a:t>Will my supply drop?</a:t>
            </a:r>
          </a:p>
        </p:txBody>
      </p:sp>
      <p:sp>
        <p:nvSpPr>
          <p:cNvPr id="19" name="TextBox 18"/>
          <p:cNvSpPr txBox="1"/>
          <p:nvPr/>
        </p:nvSpPr>
        <p:spPr>
          <a:xfrm>
            <a:off x="936000" y="2807999"/>
            <a:ext cx="288000" cy="216000"/>
          </a:xfrm>
          <a:prstGeom prst="rect">
            <a:avLst/>
          </a:prstGeom>
          <a:noFill/>
        </p:spPr>
        <p:txBody>
          <a:bodyPr wrap="square" anchor="t">
            <a:spAutoFit/>
          </a:bodyPr>
          <a:lstStyle/>
          <a:p>
            <a:pPr algn="l">
              <a:defRPr sz="1300" b="1" i="0">
                <a:solidFill>
                  <a:srgbClr val="2D8A8A"/>
                </a:solidFill>
                <a:latin typeface="Georgia"/>
              </a:defRPr>
            </a:pPr>
            <a:r>
              <a:t>A.</a:t>
            </a:r>
          </a:p>
        </p:txBody>
      </p:sp>
      <p:sp>
        <p:nvSpPr>
          <p:cNvPr id="20" name="TextBox 19"/>
          <p:cNvSpPr txBox="1"/>
          <p:nvPr/>
        </p:nvSpPr>
        <p:spPr>
          <a:xfrm>
            <a:off x="1260000" y="2826000"/>
            <a:ext cx="5400000" cy="720000"/>
          </a:xfrm>
          <a:prstGeom prst="rect">
            <a:avLst/>
          </a:prstGeom>
          <a:noFill/>
        </p:spPr>
        <p:txBody>
          <a:bodyPr wrap="square" anchor="t">
            <a:spAutoFit/>
          </a:bodyPr>
          <a:lstStyle/>
          <a:p>
            <a:pPr algn="l">
              <a:defRPr sz="950" b="0" i="0">
                <a:solidFill>
                  <a:srgbClr val="4A5568"/>
                </a:solidFill>
                <a:latin typeface="Arial"/>
              </a:defRPr>
            </a:pPr>
            <a:r>
              <a:t>No. Your body adjusts to daytime demand within 3–5 days of dropping a night feed. Pump once before bed in the early days if engorgement is a concern.</a:t>
            </a:r>
          </a:p>
        </p:txBody>
      </p:sp>
      <p:sp>
        <p:nvSpPr>
          <p:cNvPr id="21" name="Rounded Rectangle 20"/>
          <p:cNvSpPr/>
          <p:nvPr/>
        </p:nvSpPr>
        <p:spPr>
          <a:xfrm>
            <a:off x="720000" y="3672000"/>
            <a:ext cx="6120000" cy="1296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000" y="3780000"/>
            <a:ext cx="288000" cy="216000"/>
          </a:xfrm>
          <a:prstGeom prst="rect">
            <a:avLst/>
          </a:prstGeom>
          <a:noFill/>
        </p:spPr>
        <p:txBody>
          <a:bodyPr wrap="square" anchor="t">
            <a:spAutoFit/>
          </a:bodyPr>
          <a:lstStyle/>
          <a:p>
            <a:pPr algn="l">
              <a:defRPr sz="1300" b="1" i="0">
                <a:solidFill>
                  <a:srgbClr val="C9A84C"/>
                </a:solidFill>
                <a:latin typeface="Georgia"/>
              </a:defRPr>
            </a:pPr>
            <a:r>
              <a:t>Q.</a:t>
            </a:r>
          </a:p>
        </p:txBody>
      </p:sp>
      <p:sp>
        <p:nvSpPr>
          <p:cNvPr id="23" name="TextBox 22"/>
          <p:cNvSpPr txBox="1"/>
          <p:nvPr/>
        </p:nvSpPr>
        <p:spPr>
          <a:xfrm>
            <a:off x="1260000" y="3797999"/>
            <a:ext cx="5400000" cy="251999"/>
          </a:xfrm>
          <a:prstGeom prst="rect">
            <a:avLst/>
          </a:prstGeom>
          <a:noFill/>
        </p:spPr>
        <p:txBody>
          <a:bodyPr wrap="square" anchor="t">
            <a:spAutoFit/>
          </a:bodyPr>
          <a:lstStyle/>
          <a:p>
            <a:pPr algn="l">
              <a:defRPr sz="1100" b="1" i="0">
                <a:solidFill>
                  <a:srgbClr val="0D1B3E"/>
                </a:solidFill>
                <a:latin typeface="Arial"/>
              </a:defRPr>
            </a:pPr>
            <a:r>
              <a:t>Is my baby actually hungry at night?</a:t>
            </a:r>
          </a:p>
        </p:txBody>
      </p:sp>
      <p:sp>
        <p:nvSpPr>
          <p:cNvPr id="24" name="TextBox 23"/>
          <p:cNvSpPr txBox="1"/>
          <p:nvPr/>
        </p:nvSpPr>
        <p:spPr>
          <a:xfrm>
            <a:off x="936000" y="4175999"/>
            <a:ext cx="288000" cy="216000"/>
          </a:xfrm>
          <a:prstGeom prst="rect">
            <a:avLst/>
          </a:prstGeom>
          <a:noFill/>
        </p:spPr>
        <p:txBody>
          <a:bodyPr wrap="square" anchor="t">
            <a:spAutoFit/>
          </a:bodyPr>
          <a:lstStyle/>
          <a:p>
            <a:pPr algn="l">
              <a:defRPr sz="1300" b="1" i="0">
                <a:solidFill>
                  <a:srgbClr val="2D8A8A"/>
                </a:solidFill>
                <a:latin typeface="Georgia"/>
              </a:defRPr>
            </a:pPr>
            <a:r>
              <a:t>A.</a:t>
            </a:r>
          </a:p>
        </p:txBody>
      </p:sp>
      <p:sp>
        <p:nvSpPr>
          <p:cNvPr id="25" name="TextBox 24"/>
          <p:cNvSpPr txBox="1"/>
          <p:nvPr/>
        </p:nvSpPr>
        <p:spPr>
          <a:xfrm>
            <a:off x="1260000" y="4194000"/>
            <a:ext cx="5400000" cy="720000"/>
          </a:xfrm>
          <a:prstGeom prst="rect">
            <a:avLst/>
          </a:prstGeom>
          <a:noFill/>
        </p:spPr>
        <p:txBody>
          <a:bodyPr wrap="square" anchor="t">
            <a:spAutoFit/>
          </a:bodyPr>
          <a:lstStyle/>
          <a:p>
            <a:pPr algn="l">
              <a:defRPr sz="950" b="0" i="0">
                <a:solidFill>
                  <a:srgbClr val="4A5568"/>
                </a:solidFill>
                <a:latin typeface="Arial"/>
              </a:defRPr>
            </a:pPr>
            <a:r>
              <a:t>If they feed for less than 5 minutes and drift back to sleep — it's habitual. A truly hungry baby drinks purposefully and transfers real volume.</a:t>
            </a:r>
          </a:p>
        </p:txBody>
      </p:sp>
      <p:sp>
        <p:nvSpPr>
          <p:cNvPr id="26" name="Rounded Rectangle 25"/>
          <p:cNvSpPr/>
          <p:nvPr/>
        </p:nvSpPr>
        <p:spPr>
          <a:xfrm>
            <a:off x="720000" y="5040000"/>
            <a:ext cx="6120000" cy="1296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000" y="5148000"/>
            <a:ext cx="288000" cy="216000"/>
          </a:xfrm>
          <a:prstGeom prst="rect">
            <a:avLst/>
          </a:prstGeom>
          <a:noFill/>
        </p:spPr>
        <p:txBody>
          <a:bodyPr wrap="square" anchor="t">
            <a:spAutoFit/>
          </a:bodyPr>
          <a:lstStyle/>
          <a:p>
            <a:pPr algn="l">
              <a:defRPr sz="1300" b="1" i="0">
                <a:solidFill>
                  <a:srgbClr val="C9A84C"/>
                </a:solidFill>
                <a:latin typeface="Georgia"/>
              </a:defRPr>
            </a:pPr>
            <a:r>
              <a:t>Q.</a:t>
            </a:r>
          </a:p>
        </p:txBody>
      </p:sp>
      <p:sp>
        <p:nvSpPr>
          <p:cNvPr id="28" name="TextBox 27"/>
          <p:cNvSpPr txBox="1"/>
          <p:nvPr/>
        </p:nvSpPr>
        <p:spPr>
          <a:xfrm>
            <a:off x="1260000" y="5165999"/>
            <a:ext cx="5400000" cy="251999"/>
          </a:xfrm>
          <a:prstGeom prst="rect">
            <a:avLst/>
          </a:prstGeom>
          <a:noFill/>
        </p:spPr>
        <p:txBody>
          <a:bodyPr wrap="square" anchor="t">
            <a:spAutoFit/>
          </a:bodyPr>
          <a:lstStyle/>
          <a:p>
            <a:pPr algn="l">
              <a:defRPr sz="1100" b="1" i="0">
                <a:solidFill>
                  <a:srgbClr val="0D1B3E"/>
                </a:solidFill>
                <a:latin typeface="Arial"/>
              </a:defRPr>
            </a:pPr>
            <a:r>
              <a:t>Can I still nurse to sleep for naps?</a:t>
            </a:r>
          </a:p>
        </p:txBody>
      </p:sp>
      <p:sp>
        <p:nvSpPr>
          <p:cNvPr id="29" name="TextBox 28"/>
          <p:cNvSpPr txBox="1"/>
          <p:nvPr/>
        </p:nvSpPr>
        <p:spPr>
          <a:xfrm>
            <a:off x="936000" y="5543999"/>
            <a:ext cx="288000" cy="216000"/>
          </a:xfrm>
          <a:prstGeom prst="rect">
            <a:avLst/>
          </a:prstGeom>
          <a:noFill/>
        </p:spPr>
        <p:txBody>
          <a:bodyPr wrap="square" anchor="t">
            <a:spAutoFit/>
          </a:bodyPr>
          <a:lstStyle/>
          <a:p>
            <a:pPr algn="l">
              <a:defRPr sz="1300" b="1" i="0">
                <a:solidFill>
                  <a:srgbClr val="2D8A8A"/>
                </a:solidFill>
                <a:latin typeface="Georgia"/>
              </a:defRPr>
            </a:pPr>
            <a:r>
              <a:t>A.</a:t>
            </a:r>
          </a:p>
        </p:txBody>
      </p:sp>
      <p:sp>
        <p:nvSpPr>
          <p:cNvPr id="30" name="TextBox 29"/>
          <p:cNvSpPr txBox="1"/>
          <p:nvPr/>
        </p:nvSpPr>
        <p:spPr>
          <a:xfrm>
            <a:off x="1260000" y="5562000"/>
            <a:ext cx="5400000" cy="720000"/>
          </a:xfrm>
          <a:prstGeom prst="rect">
            <a:avLst/>
          </a:prstGeom>
          <a:noFill/>
        </p:spPr>
        <p:txBody>
          <a:bodyPr wrap="square" anchor="t">
            <a:spAutoFit/>
          </a:bodyPr>
          <a:lstStyle/>
          <a:p>
            <a:pPr algn="l">
              <a:defRPr sz="950" b="0" i="0">
                <a:solidFill>
                  <a:srgbClr val="4A5568"/>
                </a:solidFill>
                <a:latin typeface="Arial"/>
              </a:defRPr>
            </a:pPr>
            <a:r>
              <a:t>Ideally no — consistency matters most. But bedtime is the priority. If you're going to break the feed-to-sleep link somewhere, start there.</a:t>
            </a:r>
          </a:p>
        </p:txBody>
      </p:sp>
      <p:sp>
        <p:nvSpPr>
          <p:cNvPr id="31" name="Rounded Rectangle 30"/>
          <p:cNvSpPr/>
          <p:nvPr/>
        </p:nvSpPr>
        <p:spPr>
          <a:xfrm>
            <a:off x="720000" y="6408000"/>
            <a:ext cx="6120000" cy="1296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6000" y="6516000"/>
            <a:ext cx="288000" cy="216000"/>
          </a:xfrm>
          <a:prstGeom prst="rect">
            <a:avLst/>
          </a:prstGeom>
          <a:noFill/>
        </p:spPr>
        <p:txBody>
          <a:bodyPr wrap="square" anchor="t">
            <a:spAutoFit/>
          </a:bodyPr>
          <a:lstStyle/>
          <a:p>
            <a:pPr algn="l">
              <a:defRPr sz="1300" b="1" i="0">
                <a:solidFill>
                  <a:srgbClr val="C9A84C"/>
                </a:solidFill>
                <a:latin typeface="Georgia"/>
              </a:defRPr>
            </a:pPr>
            <a:r>
              <a:t>Q.</a:t>
            </a:r>
          </a:p>
        </p:txBody>
      </p:sp>
      <p:sp>
        <p:nvSpPr>
          <p:cNvPr id="33" name="TextBox 32"/>
          <p:cNvSpPr txBox="1"/>
          <p:nvPr/>
        </p:nvSpPr>
        <p:spPr>
          <a:xfrm>
            <a:off x="1260000" y="6533999"/>
            <a:ext cx="5400000" cy="251999"/>
          </a:xfrm>
          <a:prstGeom prst="rect">
            <a:avLst/>
          </a:prstGeom>
          <a:noFill/>
        </p:spPr>
        <p:txBody>
          <a:bodyPr wrap="square" anchor="t">
            <a:spAutoFit/>
          </a:bodyPr>
          <a:lstStyle/>
          <a:p>
            <a:pPr algn="l">
              <a:defRPr sz="1100" b="1" i="0">
                <a:solidFill>
                  <a:srgbClr val="0D1B3E"/>
                </a:solidFill>
                <a:latin typeface="Arial"/>
              </a:defRPr>
            </a:pPr>
            <a:r>
              <a:t>My baby refuses bottles from my partner. What now?</a:t>
            </a:r>
          </a:p>
        </p:txBody>
      </p:sp>
      <p:sp>
        <p:nvSpPr>
          <p:cNvPr id="34" name="TextBox 33"/>
          <p:cNvSpPr txBox="1"/>
          <p:nvPr/>
        </p:nvSpPr>
        <p:spPr>
          <a:xfrm>
            <a:off x="936000" y="6911999"/>
            <a:ext cx="288000" cy="216000"/>
          </a:xfrm>
          <a:prstGeom prst="rect">
            <a:avLst/>
          </a:prstGeom>
          <a:noFill/>
        </p:spPr>
        <p:txBody>
          <a:bodyPr wrap="square" anchor="t">
            <a:spAutoFit/>
          </a:bodyPr>
          <a:lstStyle/>
          <a:p>
            <a:pPr algn="l">
              <a:defRPr sz="1300" b="1" i="0">
                <a:solidFill>
                  <a:srgbClr val="2D8A8A"/>
                </a:solidFill>
                <a:latin typeface="Georgia"/>
              </a:defRPr>
            </a:pPr>
            <a:r>
              <a:t>A.</a:t>
            </a:r>
          </a:p>
        </p:txBody>
      </p:sp>
      <p:sp>
        <p:nvSpPr>
          <p:cNvPr id="35" name="TextBox 34"/>
          <p:cNvSpPr txBox="1"/>
          <p:nvPr/>
        </p:nvSpPr>
        <p:spPr>
          <a:xfrm>
            <a:off x="1260000" y="6930000"/>
            <a:ext cx="5400000" cy="720000"/>
          </a:xfrm>
          <a:prstGeom prst="rect">
            <a:avLst/>
          </a:prstGeom>
          <a:noFill/>
        </p:spPr>
        <p:txBody>
          <a:bodyPr wrap="square" anchor="t">
            <a:spAutoFit/>
          </a:bodyPr>
          <a:lstStyle/>
          <a:p>
            <a:pPr algn="l">
              <a:defRPr sz="950" b="0" i="0">
                <a:solidFill>
                  <a:srgbClr val="4A5568"/>
                </a:solidFill>
                <a:latin typeface="Arial"/>
              </a:defRPr>
            </a:pPr>
            <a:r>
              <a:t>Common. Have partner offer the bottle when baby is HUNGRY but not starving — about 15 minutes before usual feed time. Use a slow-flow nipple. Skin-to-skin during the bottle. Try 7–10 days before declaring it 'not working.'</a:t>
            </a:r>
          </a:p>
        </p:txBody>
      </p:sp>
      <p:sp>
        <p:nvSpPr>
          <p:cNvPr id="36" name="Rounded Rectangle 35"/>
          <p:cNvSpPr/>
          <p:nvPr/>
        </p:nvSpPr>
        <p:spPr>
          <a:xfrm>
            <a:off x="720000" y="7776000"/>
            <a:ext cx="6120000" cy="1296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6000" y="7884000"/>
            <a:ext cx="288000" cy="216000"/>
          </a:xfrm>
          <a:prstGeom prst="rect">
            <a:avLst/>
          </a:prstGeom>
          <a:noFill/>
        </p:spPr>
        <p:txBody>
          <a:bodyPr wrap="square" anchor="t">
            <a:spAutoFit/>
          </a:bodyPr>
          <a:lstStyle/>
          <a:p>
            <a:pPr algn="l">
              <a:defRPr sz="1300" b="1" i="0">
                <a:solidFill>
                  <a:srgbClr val="C9A84C"/>
                </a:solidFill>
                <a:latin typeface="Georgia"/>
              </a:defRPr>
            </a:pPr>
            <a:r>
              <a:t>Q.</a:t>
            </a:r>
          </a:p>
        </p:txBody>
      </p:sp>
      <p:sp>
        <p:nvSpPr>
          <p:cNvPr id="38" name="TextBox 37"/>
          <p:cNvSpPr txBox="1"/>
          <p:nvPr/>
        </p:nvSpPr>
        <p:spPr>
          <a:xfrm>
            <a:off x="1260000" y="7901999"/>
            <a:ext cx="5400000" cy="251999"/>
          </a:xfrm>
          <a:prstGeom prst="rect">
            <a:avLst/>
          </a:prstGeom>
          <a:noFill/>
        </p:spPr>
        <p:txBody>
          <a:bodyPr wrap="square" anchor="t">
            <a:spAutoFit/>
          </a:bodyPr>
          <a:lstStyle/>
          <a:p>
            <a:pPr algn="l">
              <a:defRPr sz="1100" b="1" i="0">
                <a:solidFill>
                  <a:srgbClr val="0D1B3E"/>
                </a:solidFill>
                <a:latin typeface="Arial"/>
              </a:defRPr>
            </a:pPr>
            <a:r>
              <a:t>Will my baby still bond with me if I stop nursing to sleep?</a:t>
            </a:r>
          </a:p>
        </p:txBody>
      </p:sp>
      <p:sp>
        <p:nvSpPr>
          <p:cNvPr id="39" name="TextBox 38"/>
          <p:cNvSpPr txBox="1"/>
          <p:nvPr/>
        </p:nvSpPr>
        <p:spPr>
          <a:xfrm>
            <a:off x="936000" y="8279999"/>
            <a:ext cx="288000" cy="216000"/>
          </a:xfrm>
          <a:prstGeom prst="rect">
            <a:avLst/>
          </a:prstGeom>
          <a:noFill/>
        </p:spPr>
        <p:txBody>
          <a:bodyPr wrap="square" anchor="t">
            <a:spAutoFit/>
          </a:bodyPr>
          <a:lstStyle/>
          <a:p>
            <a:pPr algn="l">
              <a:defRPr sz="1300" b="1" i="0">
                <a:solidFill>
                  <a:srgbClr val="2D8A8A"/>
                </a:solidFill>
                <a:latin typeface="Georgia"/>
              </a:defRPr>
            </a:pPr>
            <a:r>
              <a:t>A.</a:t>
            </a:r>
          </a:p>
        </p:txBody>
      </p:sp>
      <p:sp>
        <p:nvSpPr>
          <p:cNvPr id="40" name="TextBox 39"/>
          <p:cNvSpPr txBox="1"/>
          <p:nvPr/>
        </p:nvSpPr>
        <p:spPr>
          <a:xfrm>
            <a:off x="1260000" y="8298000"/>
            <a:ext cx="5400000" cy="720000"/>
          </a:xfrm>
          <a:prstGeom prst="rect">
            <a:avLst/>
          </a:prstGeom>
          <a:noFill/>
        </p:spPr>
        <p:txBody>
          <a:bodyPr wrap="square" anchor="t">
            <a:spAutoFit/>
          </a:bodyPr>
          <a:lstStyle/>
          <a:p>
            <a:pPr algn="l">
              <a:defRPr sz="950" b="0" i="0">
                <a:solidFill>
                  <a:srgbClr val="4A5568"/>
                </a:solidFill>
                <a:latin typeface="Arial"/>
              </a:defRPr>
            </a:pPr>
            <a:r>
              <a:t>Yes. The bond is built over thousands of nursing sessions during the day, in your arms, eye-to-eye. Sleep is taught separately. Your bond doesn't depend on how they fall asleep.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Oval 1"/>
          <p:cNvSpPr/>
          <p:nvPr/>
        </p:nvSpPr>
        <p:spPr>
          <a:xfrm>
            <a:off x="5400000" y="-1080000"/>
            <a:ext cx="4320000" cy="4320000"/>
          </a:xfrm>
          <a:prstGeom prst="ellipse">
            <a:avLst/>
          </a:prstGeom>
          <a:solidFill>
            <a:srgbClr val="1E2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40000" y="7200000"/>
            <a:ext cx="2880000" cy="2880000"/>
          </a:xfrm>
          <a:prstGeom prst="ellipse">
            <a:avLst/>
          </a:prstGeom>
          <a:solidFill>
            <a:srgbClr val="16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60000" cy="1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2000"/>
            <a:ext cx="7560000" cy="1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080000"/>
            <a:ext cx="6120000" cy="216000"/>
          </a:xfrm>
          <a:prstGeom prst="rect">
            <a:avLst/>
          </a:prstGeom>
          <a:noFill/>
        </p:spPr>
        <p:txBody>
          <a:bodyPr wrap="square" anchor="t">
            <a:spAutoFit/>
          </a:bodyPr>
          <a:lstStyle/>
          <a:p>
            <a:pPr algn="ctr">
              <a:defRPr sz="900" b="1" i="0">
                <a:solidFill>
                  <a:srgbClr val="C9A84C"/>
                </a:solidFill>
                <a:latin typeface="Arial"/>
              </a:defRPr>
            </a:pPr>
            <a:r>
              <a:t>ONE LAST THING — IF THIS HELPED</a:t>
            </a:r>
          </a:p>
        </p:txBody>
      </p:sp>
      <p:sp>
        <p:nvSpPr>
          <p:cNvPr id="7" name="TextBox 6"/>
          <p:cNvSpPr txBox="1"/>
          <p:nvPr/>
        </p:nvSpPr>
        <p:spPr>
          <a:xfrm>
            <a:off x="720000" y="1980000"/>
            <a:ext cx="6120000" cy="900000"/>
          </a:xfrm>
          <a:prstGeom prst="rect">
            <a:avLst/>
          </a:prstGeom>
          <a:noFill/>
        </p:spPr>
        <p:txBody>
          <a:bodyPr wrap="square" anchor="t">
            <a:spAutoFit/>
          </a:bodyPr>
          <a:lstStyle/>
          <a:p>
            <a:pPr algn="ctr">
              <a:defRPr sz="3600" b="1" i="0">
                <a:solidFill>
                  <a:srgbClr val="FFFFFF"/>
                </a:solidFill>
                <a:latin typeface="Georgia"/>
              </a:defRPr>
            </a:pPr>
            <a:r>
              <a:t>This was 1 chapter.</a:t>
            </a:r>
          </a:p>
        </p:txBody>
      </p:sp>
      <p:sp>
        <p:nvSpPr>
          <p:cNvPr id="8" name="TextBox 7"/>
          <p:cNvSpPr txBox="1"/>
          <p:nvPr/>
        </p:nvSpPr>
        <p:spPr>
          <a:xfrm>
            <a:off x="720000" y="2880000"/>
            <a:ext cx="6120000" cy="900000"/>
          </a:xfrm>
          <a:prstGeom prst="rect">
            <a:avLst/>
          </a:prstGeom>
          <a:noFill/>
        </p:spPr>
        <p:txBody>
          <a:bodyPr wrap="square" anchor="t">
            <a:spAutoFit/>
          </a:bodyPr>
          <a:lstStyle/>
          <a:p>
            <a:pPr algn="ctr">
              <a:defRPr sz="3600" b="1" i="1">
                <a:solidFill>
                  <a:srgbClr val="C9A84C"/>
                </a:solidFill>
                <a:latin typeface="Georgia"/>
              </a:defRPr>
            </a:pPr>
            <a:r>
              <a:t>There are 14 more.</a:t>
            </a:r>
          </a:p>
        </p:txBody>
      </p:sp>
      <p:sp>
        <p:nvSpPr>
          <p:cNvPr id="9" name="Rectangle 8"/>
          <p:cNvSpPr/>
          <p:nvPr/>
        </p:nvSpPr>
        <p:spPr>
          <a:xfrm>
            <a:off x="3060000" y="3960000"/>
            <a:ext cx="144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000" y="4248000"/>
            <a:ext cx="6120000" cy="2520000"/>
          </a:xfrm>
          <a:prstGeom prst="rect">
            <a:avLst/>
          </a:prstGeom>
          <a:noFill/>
        </p:spPr>
        <p:txBody>
          <a:bodyPr wrap="square">
            <a:spAutoFit/>
          </a:bodyPr>
          <a:lstStyle/>
          <a:p>
            <a:pPr algn="ctr">
              <a:spcAft>
                <a:spcPts val="800"/>
              </a:spcAft>
              <a:defRPr sz="1100" b="0" i="0">
                <a:solidFill>
                  <a:srgbClr val="F0EBE1"/>
                </a:solidFill>
                <a:latin typeface="Arial"/>
              </a:defRPr>
            </a:pPr>
            <a:r>
              <a:t>The full book covers every method (Ferber, extinction, fading, chair, pick-up/put-down) with day-by-day timing charts. Plus the Six Sleep Personalities. Plus the Crib Hour technique nobody else teaches. Plus full chapters on twins, NICU babies, daycare, single parents, and the Reset Protocol if you've tried before.</a:t>
            </a:r>
          </a:p>
          <a:p>
            <a:pPr algn="ctr">
              <a:spcAft>
                <a:spcPts val="600"/>
              </a:spcAft>
              <a:defRPr sz="1150" b="0" i="1">
                <a:solidFill>
                  <a:srgbClr val="E8C97A"/>
                </a:solidFill>
                <a:latin typeface="Georgia"/>
              </a:defRPr>
            </a:pPr>
            <a:r>
              <a:t>Everything you need to be sleeping in 7 nights — written by a mom of six who lived every chapter.</a:t>
            </a:r>
          </a:p>
        </p:txBody>
      </p:sp>
      <p:sp>
        <p:nvSpPr>
          <p:cNvPr id="11" name="Rounded Rectangle 10"/>
          <p:cNvSpPr/>
          <p:nvPr/>
        </p:nvSpPr>
        <p:spPr>
          <a:xfrm>
            <a:off x="720000" y="7020000"/>
            <a:ext cx="6120000" cy="2160000"/>
          </a:xfrm>
          <a:prstGeom prst="round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0000" y="7092000"/>
            <a:ext cx="54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0000" y="9072000"/>
            <a:ext cx="54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7200000"/>
            <a:ext cx="6120000" cy="360000"/>
          </a:xfrm>
          <a:prstGeom prst="rect">
            <a:avLst/>
          </a:prstGeom>
          <a:noFill/>
        </p:spPr>
        <p:txBody>
          <a:bodyPr wrap="square" anchor="t">
            <a:spAutoFit/>
          </a:bodyPr>
          <a:lstStyle/>
          <a:p>
            <a:pPr algn="ctr">
              <a:defRPr sz="2200" b="1" i="0">
                <a:solidFill>
                  <a:srgbClr val="0D1B3E"/>
                </a:solidFill>
                <a:latin typeface="Georgia"/>
              </a:defRPr>
            </a:pPr>
            <a:r>
              <a:t>Want the full plan?</a:t>
            </a:r>
          </a:p>
        </p:txBody>
      </p:sp>
      <p:sp>
        <p:nvSpPr>
          <p:cNvPr id="15" name="TextBox 14"/>
          <p:cNvSpPr txBox="1"/>
          <p:nvPr/>
        </p:nvSpPr>
        <p:spPr>
          <a:xfrm>
            <a:off x="720000" y="7632000"/>
            <a:ext cx="6120000" cy="216000"/>
          </a:xfrm>
          <a:prstGeom prst="rect">
            <a:avLst/>
          </a:prstGeom>
          <a:noFill/>
        </p:spPr>
        <p:txBody>
          <a:bodyPr wrap="square" anchor="t">
            <a:spAutoFit/>
          </a:bodyPr>
          <a:lstStyle/>
          <a:p>
            <a:pPr algn="ctr">
              <a:defRPr sz="1100" b="0" i="1">
                <a:solidFill>
                  <a:srgbClr val="4A5568"/>
                </a:solidFill>
                <a:latin typeface="Arial"/>
              </a:defRPr>
            </a:pPr>
            <a:r>
              <a:t>Sleep, Baby. Please. — 59 pages. Birth to toddler.</a:t>
            </a:r>
          </a:p>
        </p:txBody>
      </p:sp>
      <p:sp>
        <p:nvSpPr>
          <p:cNvPr id="16" name="Rounded Rectangle 15"/>
          <p:cNvSpPr/>
          <p:nvPr/>
        </p:nvSpPr>
        <p:spPr>
          <a:xfrm>
            <a:off x="2160000" y="7992000"/>
            <a:ext cx="3240000" cy="468000"/>
          </a:xfrm>
          <a:prstGeom prst="round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60000" y="8064000"/>
            <a:ext cx="3240000" cy="324000"/>
          </a:xfrm>
          <a:prstGeom prst="rect">
            <a:avLst/>
          </a:prstGeom>
          <a:noFill/>
        </p:spPr>
        <p:txBody>
          <a:bodyPr wrap="square" anchor="ctr">
            <a:spAutoFit/>
          </a:bodyPr>
          <a:lstStyle/>
          <a:p>
            <a:pPr algn="ctr">
              <a:defRPr sz="1300" b="1" i="0">
                <a:solidFill>
                  <a:srgbClr val="C9A84C"/>
                </a:solidFill>
                <a:latin typeface="Arial"/>
              </a:defRPr>
            </a:pPr>
            <a:r>
              <a:t>GET THE BOOK  →  $19</a:t>
            </a:r>
          </a:p>
        </p:txBody>
      </p:sp>
      <p:sp>
        <p:nvSpPr>
          <p:cNvPr id="18" name="TextBox 17"/>
          <p:cNvSpPr txBox="1"/>
          <p:nvPr/>
        </p:nvSpPr>
        <p:spPr>
          <a:xfrm>
            <a:off x="720000" y="8568000"/>
            <a:ext cx="6120000" cy="180000"/>
          </a:xfrm>
          <a:prstGeom prst="rect">
            <a:avLst/>
          </a:prstGeom>
          <a:noFill/>
        </p:spPr>
        <p:txBody>
          <a:bodyPr wrap="square" anchor="t">
            <a:spAutoFit/>
          </a:bodyPr>
          <a:lstStyle/>
          <a:p>
            <a:pPr algn="ctr">
              <a:defRPr sz="1000" b="1" i="0">
                <a:solidFill>
                  <a:srgbClr val="0D1B3E"/>
                </a:solidFill>
                <a:latin typeface="Arial"/>
              </a:defRPr>
            </a:pPr>
            <a:r>
              <a:t>www.sixandthriving.com</a:t>
            </a:r>
          </a:p>
        </p:txBody>
      </p:sp>
      <p:sp>
        <p:nvSpPr>
          <p:cNvPr id="19" name="TextBox 18"/>
          <p:cNvSpPr txBox="1"/>
          <p:nvPr/>
        </p:nvSpPr>
        <p:spPr>
          <a:xfrm>
            <a:off x="720000" y="9540000"/>
            <a:ext cx="6120000" cy="216000"/>
          </a:xfrm>
          <a:prstGeom prst="rect">
            <a:avLst/>
          </a:prstGeom>
          <a:noFill/>
        </p:spPr>
        <p:txBody>
          <a:bodyPr wrap="square" anchor="t">
            <a:spAutoFit/>
          </a:bodyPr>
          <a:lstStyle/>
          <a:p>
            <a:pPr algn="ctr">
              <a:defRPr sz="1100" b="0" i="1">
                <a:solidFill>
                  <a:srgbClr val="E8C97A"/>
                </a:solidFill>
                <a:latin typeface="Georgia"/>
              </a:defRPr>
            </a:pPr>
            <a:r>
              <a:t>Sleep is coming. For both of you.</a:t>
            </a:r>
          </a:p>
        </p:txBody>
      </p:sp>
      <p:sp>
        <p:nvSpPr>
          <p:cNvPr id="20" name="TextBox 19"/>
          <p:cNvSpPr txBox="1"/>
          <p:nvPr/>
        </p:nvSpPr>
        <p:spPr>
          <a:xfrm>
            <a:off x="720000" y="9792000"/>
            <a:ext cx="6120000" cy="180000"/>
          </a:xfrm>
          <a:prstGeom prst="rect">
            <a:avLst/>
          </a:prstGeom>
          <a:noFill/>
        </p:spPr>
        <p:txBody>
          <a:bodyPr wrap="square" anchor="t">
            <a:spAutoFit/>
          </a:bodyPr>
          <a:lstStyle/>
          <a:p>
            <a:pPr algn="ctr">
              <a:defRPr sz="1000" b="1" i="0">
                <a:solidFill>
                  <a:srgbClr val="C9A84C"/>
                </a:solidFill>
                <a:latin typeface="Georgia"/>
              </a:defRPr>
            </a:pPr>
            <a:r>
              <a:t>— Six &amp; Thriving</a:t>
            </a:r>
          </a:p>
        </p:txBody>
      </p:sp>
      <p:sp>
        <p:nvSpPr>
          <p:cNvPr id="21" name="Rectangle 20"/>
          <p:cNvSpPr/>
          <p:nvPr/>
        </p:nvSpPr>
        <p:spPr>
          <a:xfrm>
            <a:off x="0" y="10116000"/>
            <a:ext cx="7560000" cy="576000"/>
          </a:xfrm>
          <a:prstGeom prst="rect">
            <a:avLst/>
          </a:prstGeom>
          <a:solidFill>
            <a:srgbClr val="08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456000" y="10188000"/>
            <a:ext cx="468000" cy="468000"/>
          </a:xfrm>
          <a:prstGeom prst="ellipse">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56000" y="10224000"/>
            <a:ext cx="468000" cy="396000"/>
          </a:xfrm>
          <a:prstGeom prst="rect">
            <a:avLst/>
          </a:prstGeom>
          <a:noFill/>
        </p:spPr>
        <p:txBody>
          <a:bodyPr wrap="square" anchor="ctr">
            <a:spAutoFit/>
          </a:bodyPr>
          <a:lstStyle/>
          <a:p>
            <a:pPr algn="ctr">
              <a:defRPr sz="900" b="1" i="0">
                <a:solidFill>
                  <a:srgbClr val="0D1B3E"/>
                </a:solidFill>
                <a:latin typeface="Arial"/>
              </a:defRPr>
            </a:pPr>
            <a:r>
              <a:t>6</a:t>
            </a:r>
          </a:p>
        </p:txBody>
      </p:sp>
      <p:sp>
        <p:nvSpPr>
          <p:cNvPr id="25" name="TextBox 24"/>
          <p:cNvSpPr txBox="1"/>
          <p:nvPr/>
        </p:nvSpPr>
        <p:spPr>
          <a:xfrm>
            <a:off x="720000" y="10224000"/>
            <a:ext cx="2520000" cy="251999"/>
          </a:xfrm>
          <a:prstGeom prst="rect">
            <a:avLst/>
          </a:prstGeom>
          <a:noFill/>
        </p:spPr>
        <p:txBody>
          <a:bodyPr wrap="square" anchor="t">
            <a:spAutoFit/>
          </a:bodyPr>
          <a:lstStyle/>
          <a:p>
            <a:pPr algn="l">
              <a:defRPr sz="700" b="0" i="0">
                <a:solidFill>
                  <a:srgbClr val="E8C97A"/>
                </a:solidFill>
                <a:latin typeface="Arial"/>
              </a:defRPr>
            </a:pPr>
            <a:r>
              <a:t>www.sixandthriving.com</a:t>
            </a:r>
          </a:p>
        </p:txBody>
      </p:sp>
      <p:sp>
        <p:nvSpPr>
          <p:cNvPr id="26" name="TextBox 25"/>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