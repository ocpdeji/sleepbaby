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Oval 1"/>
          <p:cNvSpPr/>
          <p:nvPr/>
        </p:nvSpPr>
        <p:spPr>
          <a:xfrm>
            <a:off x="5400000" y="-1080000"/>
            <a:ext cx="4320000" cy="4320000"/>
          </a:xfrm>
          <a:prstGeom prst="ellipse">
            <a:avLst/>
          </a:prstGeom>
          <a:solidFill>
            <a:srgbClr val="1E2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40000" y="7200000"/>
            <a:ext cx="2880000" cy="2880000"/>
          </a:xfrm>
          <a:prstGeom prst="ellipse">
            <a:avLst/>
          </a:prstGeom>
          <a:solidFill>
            <a:srgbClr val="16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200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580000" y="900000"/>
            <a:ext cx="1260000" cy="1260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80000" y="1152000"/>
            <a:ext cx="1260000" cy="324000"/>
          </a:xfrm>
          <a:prstGeom prst="rect">
            <a:avLst/>
          </a:prstGeom>
          <a:noFill/>
        </p:spPr>
        <p:txBody>
          <a:bodyPr wrap="square" anchor="t">
            <a:spAutoFit/>
          </a:bodyPr>
          <a:lstStyle/>
          <a:p>
            <a:pPr algn="ctr">
              <a:defRPr sz="1600" b="1" i="0">
                <a:solidFill>
                  <a:srgbClr val="0D1B3E"/>
                </a:solidFill>
                <a:latin typeface="Georgia"/>
              </a:defRPr>
            </a:pPr>
            <a:r>
              <a:t>FREE</a:t>
            </a:r>
          </a:p>
        </p:txBody>
      </p:sp>
      <p:sp>
        <p:nvSpPr>
          <p:cNvPr id="8" name="TextBox 7"/>
          <p:cNvSpPr txBox="1"/>
          <p:nvPr/>
        </p:nvSpPr>
        <p:spPr>
          <a:xfrm>
            <a:off x="5580000" y="1512000"/>
            <a:ext cx="1260000" cy="251999"/>
          </a:xfrm>
          <a:prstGeom prst="rect">
            <a:avLst/>
          </a:prstGeom>
          <a:noFill/>
        </p:spPr>
        <p:txBody>
          <a:bodyPr wrap="square" anchor="t">
            <a:spAutoFit/>
          </a:bodyPr>
          <a:lstStyle/>
          <a:p>
            <a:pPr algn="ctr">
              <a:defRPr sz="900" b="1" i="0">
                <a:solidFill>
                  <a:srgbClr val="0D1B3E"/>
                </a:solidFill>
                <a:latin typeface="Arial"/>
              </a:defRPr>
            </a:pPr>
            <a:r>
              <a:t>TWINS</a:t>
            </a:r>
          </a:p>
        </p:txBody>
      </p:sp>
      <p:sp>
        <p:nvSpPr>
          <p:cNvPr id="9" name="TextBox 8"/>
          <p:cNvSpPr txBox="1"/>
          <p:nvPr/>
        </p:nvSpPr>
        <p:spPr>
          <a:xfrm>
            <a:off x="720000" y="1620000"/>
            <a:ext cx="4680000" cy="251999"/>
          </a:xfrm>
          <a:prstGeom prst="rect">
            <a:avLst/>
          </a:prstGeom>
          <a:noFill/>
        </p:spPr>
        <p:txBody>
          <a:bodyPr wrap="square" anchor="t">
            <a:spAutoFit/>
          </a:bodyPr>
          <a:lstStyle/>
          <a:p>
            <a:pPr algn="l">
              <a:defRPr sz="900" b="1" i="0">
                <a:solidFill>
                  <a:srgbClr val="C9A84C"/>
                </a:solidFill>
                <a:latin typeface="Arial"/>
              </a:defRPr>
            </a:pPr>
            <a:r>
              <a:t>FROM CHAPTER 14 OF SLEEP, BABY. PLEASE.</a:t>
            </a:r>
          </a:p>
        </p:txBody>
      </p:sp>
      <p:sp>
        <p:nvSpPr>
          <p:cNvPr id="10" name="Rectangle 9"/>
          <p:cNvSpPr/>
          <p:nvPr/>
        </p:nvSpPr>
        <p:spPr>
          <a:xfrm>
            <a:off x="720000" y="1908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880000"/>
            <a:ext cx="6120000" cy="900000"/>
          </a:xfrm>
          <a:prstGeom prst="rect">
            <a:avLst/>
          </a:prstGeom>
          <a:noFill/>
        </p:spPr>
        <p:txBody>
          <a:bodyPr wrap="square" anchor="t">
            <a:spAutoFit/>
          </a:bodyPr>
          <a:lstStyle/>
          <a:p>
            <a:pPr algn="l">
              <a:defRPr sz="4600" b="1" i="0">
                <a:solidFill>
                  <a:srgbClr val="FFFFFF"/>
                </a:solidFill>
                <a:latin typeface="Georgia"/>
              </a:defRPr>
            </a:pPr>
            <a:r>
              <a:t>Twin Sleep,</a:t>
            </a:r>
          </a:p>
        </p:txBody>
      </p:sp>
      <p:sp>
        <p:nvSpPr>
          <p:cNvPr id="12" name="TextBox 11"/>
          <p:cNvSpPr txBox="1"/>
          <p:nvPr/>
        </p:nvSpPr>
        <p:spPr>
          <a:xfrm>
            <a:off x="720000" y="3960000"/>
            <a:ext cx="6120000" cy="900000"/>
          </a:xfrm>
          <a:prstGeom prst="rect">
            <a:avLst/>
          </a:prstGeom>
          <a:noFill/>
        </p:spPr>
        <p:txBody>
          <a:bodyPr wrap="square" anchor="t">
            <a:spAutoFit/>
          </a:bodyPr>
          <a:lstStyle/>
          <a:p>
            <a:pPr algn="l">
              <a:defRPr sz="4600" b="1" i="1">
                <a:solidFill>
                  <a:srgbClr val="C9A84C"/>
                </a:solidFill>
                <a:latin typeface="Georgia"/>
              </a:defRPr>
            </a:pPr>
            <a:r>
              <a:t>Synchronised.</a:t>
            </a:r>
          </a:p>
        </p:txBody>
      </p:sp>
      <p:sp>
        <p:nvSpPr>
          <p:cNvPr id="13" name="Rectangle 12"/>
          <p:cNvSpPr/>
          <p:nvPr/>
        </p:nvSpPr>
        <p:spPr>
          <a:xfrm>
            <a:off x="720000" y="5148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908000" y="5094000"/>
            <a:ext cx="144000" cy="144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5472000"/>
            <a:ext cx="6120000" cy="900000"/>
          </a:xfrm>
          <a:prstGeom prst="rect">
            <a:avLst/>
          </a:prstGeom>
          <a:noFill/>
        </p:spPr>
        <p:txBody>
          <a:bodyPr wrap="square">
            <a:spAutoFit/>
          </a:bodyPr>
          <a:lstStyle/>
          <a:p>
            <a:pPr algn="l">
              <a:spcAft>
                <a:spcPts val="400"/>
              </a:spcAft>
              <a:defRPr sz="1300" b="0" i="0">
                <a:solidFill>
                  <a:srgbClr val="F0EBE1"/>
                </a:solidFill>
                <a:latin typeface="Arial"/>
              </a:defRPr>
            </a:pPr>
            <a:r>
              <a:t>From a mom who has twins,</a:t>
            </a:r>
          </a:p>
          <a:p>
            <a:pPr algn="l">
              <a:spcAft>
                <a:spcPts val="600"/>
              </a:spcAft>
              <a:defRPr sz="1300" b="0" i="0">
                <a:solidFill>
                  <a:srgbClr val="F0EBE1"/>
                </a:solidFill>
                <a:latin typeface="Arial"/>
              </a:defRPr>
            </a:pPr>
            <a:r>
              <a:t>and got them on the same schedule by Day 4.</a:t>
            </a:r>
          </a:p>
        </p:txBody>
      </p:sp>
      <p:sp>
        <p:nvSpPr>
          <p:cNvPr id="16" name="TextBox 15"/>
          <p:cNvSpPr txBox="1"/>
          <p:nvPr/>
        </p:nvSpPr>
        <p:spPr>
          <a:xfrm>
            <a:off x="720000" y="6660000"/>
            <a:ext cx="6120000" cy="1800000"/>
          </a:xfrm>
          <a:prstGeom prst="rect">
            <a:avLst/>
          </a:prstGeom>
          <a:noFill/>
        </p:spPr>
        <p:txBody>
          <a:bodyPr wrap="square">
            <a:spAutoFit/>
          </a:bodyPr>
          <a:lstStyle/>
          <a:p>
            <a:pPr algn="l">
              <a:spcAft>
                <a:spcPts val="800"/>
              </a:spcAft>
              <a:defRPr sz="1100" b="0" i="0">
                <a:solidFill>
                  <a:srgbClr val="E8C97A"/>
                </a:solidFill>
                <a:latin typeface="Arial"/>
              </a:defRPr>
            </a:pPr>
            <a:r>
              <a:t>✦  The Golden Rules of twin sleep (4 of them, that's it)</a:t>
            </a:r>
          </a:p>
          <a:p>
            <a:pPr algn="l">
              <a:spcAft>
                <a:spcPts val="800"/>
              </a:spcAft>
              <a:defRPr sz="1100" b="0" i="0">
                <a:solidFill>
                  <a:srgbClr val="E8C97A"/>
                </a:solidFill>
                <a:latin typeface="Arial"/>
              </a:defRPr>
            </a:pPr>
            <a:r>
              <a:t>✦  How to sync feeds and naps from Day 1</a:t>
            </a:r>
          </a:p>
          <a:p>
            <a:pPr algn="l">
              <a:spcAft>
                <a:spcPts val="800"/>
              </a:spcAft>
              <a:defRPr sz="1100" b="0" i="0">
                <a:solidFill>
                  <a:srgbClr val="E8C97A"/>
                </a:solidFill>
                <a:latin typeface="Arial"/>
              </a:defRPr>
            </a:pPr>
            <a:r>
              <a:t>✦  Today's printable schedule planner</a:t>
            </a:r>
          </a:p>
        </p:txBody>
      </p:sp>
      <p:sp>
        <p:nvSpPr>
          <p:cNvPr id="17" name="Rectangle 16"/>
          <p:cNvSpPr/>
          <p:nvPr/>
        </p:nvSpPr>
        <p:spPr>
          <a:xfrm>
            <a:off x="720000" y="8640000"/>
            <a:ext cx="25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0000" y="8820000"/>
            <a:ext cx="6120000" cy="360000"/>
          </a:xfrm>
          <a:prstGeom prst="rect">
            <a:avLst/>
          </a:prstGeom>
          <a:noFill/>
        </p:spPr>
        <p:txBody>
          <a:bodyPr wrap="square" anchor="t">
            <a:spAutoFit/>
          </a:bodyPr>
          <a:lstStyle/>
          <a:p>
            <a:pPr algn="l">
              <a:defRPr sz="1600" b="1" i="0">
                <a:solidFill>
                  <a:srgbClr val="FFFFFF"/>
                </a:solidFill>
                <a:latin typeface="Georgia"/>
              </a:defRPr>
            </a:pPr>
            <a:r>
              <a:t>SIX  &amp;  THRIVING</a:t>
            </a:r>
          </a:p>
        </p:txBody>
      </p:sp>
      <p:sp>
        <p:nvSpPr>
          <p:cNvPr id="19" name="TextBox 18"/>
          <p:cNvSpPr txBox="1"/>
          <p:nvPr/>
        </p:nvSpPr>
        <p:spPr>
          <a:xfrm>
            <a:off x="720000" y="9252000"/>
            <a:ext cx="6120000" cy="288000"/>
          </a:xfrm>
          <a:prstGeom prst="rect">
            <a:avLst/>
          </a:prstGeom>
          <a:noFill/>
        </p:spPr>
        <p:txBody>
          <a:bodyPr wrap="square" anchor="t">
            <a:spAutoFit/>
          </a:bodyPr>
          <a:lstStyle/>
          <a:p>
            <a:pPr algn="l">
              <a:defRPr sz="1100" b="0" i="1">
                <a:solidFill>
                  <a:srgbClr val="E8C97A"/>
                </a:solidFill>
                <a:latin typeface="Arial"/>
              </a:defRPr>
            </a:pPr>
            <a:r>
              <a:t>Mother of Six — Twins Tucked in the Middle</a:t>
            </a:r>
          </a:p>
        </p:txBody>
      </p:sp>
      <p:sp>
        <p:nvSpPr>
          <p:cNvPr id="20" name="TextBox 19"/>
          <p:cNvSpPr txBox="1"/>
          <p:nvPr/>
        </p:nvSpPr>
        <p:spPr>
          <a:xfrm>
            <a:off x="0" y="10260000"/>
            <a:ext cx="7560000" cy="216000"/>
          </a:xfrm>
          <a:prstGeom prst="rect">
            <a:avLst/>
          </a:prstGeom>
          <a:noFill/>
        </p:spPr>
        <p:txBody>
          <a:bodyPr wrap="square" anchor="t">
            <a:spAutoFit/>
          </a:bodyPr>
          <a:lstStyle/>
          <a:p>
            <a:pPr algn="ctr">
              <a:defRPr sz="900" b="0" i="0">
                <a:solidFill>
                  <a:srgbClr val="C9A84C"/>
                </a:solidFill>
                <a:latin typeface="Arial"/>
              </a:defRPr>
            </a:pPr>
            <a:r>
              <a:t>www.sixandthriving.com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A Letter</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2</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FROM ONE TWIN MOM TO ANOTHER</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52000"/>
            <a:ext cx="6120000" cy="900000"/>
          </a:xfrm>
          <a:prstGeom prst="rect">
            <a:avLst/>
          </a:prstGeom>
          <a:noFill/>
        </p:spPr>
        <p:txBody>
          <a:bodyPr wrap="square" anchor="t">
            <a:spAutoFit/>
          </a:bodyPr>
          <a:lstStyle/>
          <a:p>
            <a:pPr algn="l">
              <a:defRPr sz="2800" b="1" i="0">
                <a:solidFill>
                  <a:srgbClr val="0D1B3E"/>
                </a:solidFill>
                <a:latin typeface="Georgia"/>
              </a:defRPr>
            </a:pPr>
            <a:r>
              <a:t>I've been there.</a:t>
            </a:r>
            <a:br/>
            <a:r>
              <a:t>With two of them.</a:t>
            </a:r>
          </a:p>
        </p:txBody>
      </p:sp>
      <p:sp>
        <p:nvSpPr>
          <p:cNvPr id="15" name="Rectangle 14"/>
          <p:cNvSpPr/>
          <p:nvPr/>
        </p:nvSpPr>
        <p:spPr>
          <a:xfrm>
            <a:off x="720000" y="2628000"/>
            <a:ext cx="108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0000" y="2988000"/>
            <a:ext cx="6120000" cy="2880000"/>
          </a:xfrm>
          <a:prstGeom prst="rect">
            <a:avLst/>
          </a:prstGeom>
          <a:noFill/>
        </p:spPr>
        <p:txBody>
          <a:bodyPr wrap="square">
            <a:spAutoFit/>
          </a:bodyPr>
          <a:lstStyle/>
          <a:p>
            <a:pPr algn="l">
              <a:spcAft>
                <a:spcPts val="1000"/>
              </a:spcAft>
              <a:defRPr sz="1100" b="0" i="0">
                <a:solidFill>
                  <a:srgbClr val="4A5568"/>
                </a:solidFill>
                <a:latin typeface="Arial"/>
              </a:defRPr>
            </a:pPr>
            <a:r>
              <a:t>Most sleep books pretend twins don't exist. The ones that do mention them say something useless like 'just follow the same plan.' That's because most sleep authors don't have twins.</a:t>
            </a:r>
          </a:p>
          <a:p>
            <a:pPr algn="l">
              <a:spcAft>
                <a:spcPts val="1000"/>
              </a:spcAft>
              <a:defRPr sz="1300" b="1" i="0">
                <a:solidFill>
                  <a:srgbClr val="0D1B3E"/>
                </a:solidFill>
                <a:latin typeface="Georgia"/>
              </a:defRPr>
            </a:pPr>
            <a:r>
              <a:t>I do.</a:t>
            </a:r>
          </a:p>
          <a:p>
            <a:pPr algn="l">
              <a:spcAft>
                <a:spcPts val="1400"/>
              </a:spcAft>
              <a:defRPr sz="1100" b="0" i="0">
                <a:solidFill>
                  <a:srgbClr val="4A5568"/>
                </a:solidFill>
                <a:latin typeface="Arial"/>
              </a:defRPr>
            </a:pPr>
            <a:r>
              <a:t>My twins were baby #3 and #4. Born 2 minutes apart. Identical temperaments? No. Same sleep needs? Also no. One was a Snacker, the other was a Night Owl. They woke each other up. They synchronised in ways I didn't expect — and didn't synchronise where I expected they would.</a:t>
            </a:r>
          </a:p>
        </p:txBody>
      </p:sp>
      <p:sp>
        <p:nvSpPr>
          <p:cNvPr id="17" name="Rounded Rectangle 16"/>
          <p:cNvSpPr/>
          <p:nvPr/>
        </p:nvSpPr>
        <p:spPr>
          <a:xfrm>
            <a:off x="720000" y="5940000"/>
            <a:ext cx="6120000" cy="1260000"/>
          </a:xfrm>
          <a:prstGeom prst="round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0000" y="5940000"/>
            <a:ext cx="72000" cy="126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00" y="6048000"/>
            <a:ext cx="5760000" cy="1080000"/>
          </a:xfrm>
          <a:prstGeom prst="rect">
            <a:avLst/>
          </a:prstGeom>
          <a:noFill/>
        </p:spPr>
        <p:txBody>
          <a:bodyPr wrap="square">
            <a:spAutoFit/>
          </a:bodyPr>
          <a:lstStyle/>
          <a:p>
            <a:pPr algn="l">
              <a:spcAft>
                <a:spcPts val="200"/>
              </a:spcAft>
              <a:defRPr sz="1500" b="1" i="1">
                <a:solidFill>
                  <a:srgbClr val="E8C97A"/>
                </a:solidFill>
                <a:latin typeface="Georgia"/>
              </a:defRPr>
            </a:pPr>
            <a:r>
              <a:t>"Twin sleep isn't harder.</a:t>
            </a:r>
          </a:p>
          <a:p>
            <a:pPr algn="l">
              <a:spcAft>
                <a:spcPts val="400"/>
              </a:spcAft>
              <a:defRPr sz="1500" b="1" i="1">
                <a:solidFill>
                  <a:srgbClr val="E8C97A"/>
                </a:solidFill>
                <a:latin typeface="Georgia"/>
              </a:defRPr>
            </a:pPr>
            <a:r>
              <a:t>It's just different.</a:t>
            </a:r>
          </a:p>
          <a:p>
            <a:pPr algn="l">
              <a:spcAft>
                <a:spcPts val="600"/>
              </a:spcAft>
              <a:defRPr sz="1100" b="0" i="1">
                <a:solidFill>
                  <a:srgbClr val="FAF7F2"/>
                </a:solidFill>
                <a:latin typeface="Arial"/>
              </a:defRPr>
            </a:pPr>
            <a:r>
              <a:t>And once you know the rules, two babies sleep about as easily as one."</a:t>
            </a:r>
          </a:p>
        </p:txBody>
      </p:sp>
      <p:sp>
        <p:nvSpPr>
          <p:cNvPr id="20" name="TextBox 19"/>
          <p:cNvSpPr txBox="1"/>
          <p:nvPr/>
        </p:nvSpPr>
        <p:spPr>
          <a:xfrm>
            <a:off x="720000" y="7380000"/>
            <a:ext cx="6120000" cy="2520000"/>
          </a:xfrm>
          <a:prstGeom prst="rect">
            <a:avLst/>
          </a:prstGeom>
          <a:noFill/>
        </p:spPr>
        <p:txBody>
          <a:bodyPr wrap="square">
            <a:spAutoFit/>
          </a:bodyPr>
          <a:lstStyle/>
          <a:p>
            <a:pPr algn="l">
              <a:spcAft>
                <a:spcPts val="1000"/>
              </a:spcAft>
              <a:defRPr sz="1100" b="0" i="0">
                <a:solidFill>
                  <a:srgbClr val="4A5568"/>
                </a:solidFill>
                <a:latin typeface="Arial"/>
              </a:defRPr>
            </a:pPr>
            <a:r>
              <a:t>I tried to sleep-train my twins on different schedules — feeding one while the other slept, then swapping. It was chaos. By Day 3 I was crying. By Day 5 I was changing the plan.</a:t>
            </a:r>
          </a:p>
          <a:p>
            <a:pPr algn="l">
              <a:spcAft>
                <a:spcPts val="1000"/>
              </a:spcAft>
              <a:defRPr sz="1100" b="1" i="0">
                <a:solidFill>
                  <a:srgbClr val="0D1B3E"/>
                </a:solidFill>
                <a:latin typeface="Arial"/>
              </a:defRPr>
            </a:pPr>
            <a:r>
              <a:t>What worked: synchronising EVERYTHING. When one wakes, wake the other. Feed at the same time. Nap at the same time. The Golden Rules on page 3.</a:t>
            </a:r>
          </a:p>
          <a:p>
            <a:pPr algn="l">
              <a:spcAft>
                <a:spcPts val="1400"/>
              </a:spcAft>
              <a:defRPr sz="1100" b="1" i="1">
                <a:solidFill>
                  <a:srgbClr val="C9A84C"/>
                </a:solidFill>
                <a:latin typeface="Arial"/>
              </a:defRPr>
            </a:pPr>
            <a:r>
              <a:t>By Day 4, they were on the same schedule. They've been on the same schedule ever since.</a:t>
            </a:r>
          </a:p>
        </p:txBody>
      </p:sp>
      <p:sp>
        <p:nvSpPr>
          <p:cNvPr id="21" name="TextBox 20"/>
          <p:cNvSpPr txBox="1"/>
          <p:nvPr/>
        </p:nvSpPr>
        <p:spPr>
          <a:xfrm>
            <a:off x="720000" y="9180000"/>
            <a:ext cx="6120000" cy="540000"/>
          </a:xfrm>
          <a:prstGeom prst="rect">
            <a:avLst/>
          </a:prstGeom>
          <a:noFill/>
        </p:spPr>
        <p:txBody>
          <a:bodyPr wrap="square">
            <a:spAutoFit/>
          </a:bodyPr>
          <a:lstStyle/>
          <a:p>
            <a:pPr algn="l">
              <a:spcAft>
                <a:spcPts val="400"/>
              </a:spcAft>
              <a:defRPr sz="1000" b="0" i="1">
                <a:solidFill>
                  <a:srgbClr val="4A5568"/>
                </a:solidFill>
                <a:latin typeface="Arial"/>
              </a:defRPr>
            </a:pPr>
            <a:r>
              <a:t>With love and solidarity,</a:t>
            </a:r>
          </a:p>
          <a:p>
            <a:pPr algn="l">
              <a:spcAft>
                <a:spcPts val="600"/>
              </a:spcAft>
              <a:defRPr sz="1100" b="1" i="0">
                <a:solidFill>
                  <a:srgbClr val="C9A84C"/>
                </a:solidFill>
                <a:latin typeface="Georgia"/>
              </a:defRPr>
            </a:pPr>
            <a:r>
              <a:t>— Six &amp; Thriving (Mom of twins)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The Golden Rules</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3</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FOUR RULES. THAT'S IT.</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16000"/>
            <a:ext cx="6120000" cy="540000"/>
          </a:xfrm>
          <a:prstGeom prst="rect">
            <a:avLst/>
          </a:prstGeom>
          <a:noFill/>
        </p:spPr>
        <p:txBody>
          <a:bodyPr wrap="square" anchor="t">
            <a:spAutoFit/>
          </a:bodyPr>
          <a:lstStyle/>
          <a:p>
            <a:pPr algn="l">
              <a:defRPr sz="2400" b="1" i="0">
                <a:solidFill>
                  <a:srgbClr val="0D1B3E"/>
                </a:solidFill>
                <a:latin typeface="Georgia"/>
              </a:defRPr>
            </a:pPr>
            <a:r>
              <a:t>The Golden Rules of Twin Sleep</a:t>
            </a:r>
          </a:p>
        </p:txBody>
      </p:sp>
      <p:sp>
        <p:nvSpPr>
          <p:cNvPr id="15" name="TextBox 14"/>
          <p:cNvSpPr txBox="1"/>
          <p:nvPr/>
        </p:nvSpPr>
        <p:spPr>
          <a:xfrm>
            <a:off x="720000" y="1800000"/>
            <a:ext cx="6120000" cy="216000"/>
          </a:xfrm>
          <a:prstGeom prst="rect">
            <a:avLst/>
          </a:prstGeom>
          <a:noFill/>
        </p:spPr>
        <p:txBody>
          <a:bodyPr wrap="square" anchor="t">
            <a:spAutoFit/>
          </a:bodyPr>
          <a:lstStyle/>
          <a:p>
            <a:pPr algn="l">
              <a:defRPr sz="1100" b="0" i="1">
                <a:solidFill>
                  <a:srgbClr val="C9A84C"/>
                </a:solidFill>
                <a:latin typeface="Arial"/>
              </a:defRPr>
            </a:pPr>
            <a:r>
              <a:t>If you only remember four things — make them these.</a:t>
            </a:r>
          </a:p>
        </p:txBody>
      </p:sp>
      <p:sp>
        <p:nvSpPr>
          <p:cNvPr id="16" name="Rounded Rectangle 15"/>
          <p:cNvSpPr/>
          <p:nvPr/>
        </p:nvSpPr>
        <p:spPr>
          <a:xfrm>
            <a:off x="720000" y="2304000"/>
            <a:ext cx="6120000" cy="1512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0000" y="2304000"/>
            <a:ext cx="90000" cy="1512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6000" y="2555999"/>
            <a:ext cx="720000" cy="720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000" y="2628000"/>
            <a:ext cx="720000" cy="576000"/>
          </a:xfrm>
          <a:prstGeom prst="rect">
            <a:avLst/>
          </a:prstGeom>
          <a:noFill/>
        </p:spPr>
        <p:txBody>
          <a:bodyPr wrap="square" anchor="ctr">
            <a:spAutoFit/>
          </a:bodyPr>
          <a:lstStyle/>
          <a:p>
            <a:pPr algn="ctr">
              <a:defRPr sz="2000" b="1" i="0">
                <a:solidFill>
                  <a:srgbClr val="C9A84C"/>
                </a:solidFill>
                <a:latin typeface="Georgia"/>
              </a:defRPr>
            </a:pPr>
            <a:r>
              <a:t>01</a:t>
            </a:r>
          </a:p>
        </p:txBody>
      </p:sp>
      <p:sp>
        <p:nvSpPr>
          <p:cNvPr id="20" name="TextBox 19"/>
          <p:cNvSpPr txBox="1"/>
          <p:nvPr/>
        </p:nvSpPr>
        <p:spPr>
          <a:xfrm>
            <a:off x="1872000" y="2484000"/>
            <a:ext cx="4680000" cy="288000"/>
          </a:xfrm>
          <a:prstGeom prst="rect">
            <a:avLst/>
          </a:prstGeom>
          <a:noFill/>
        </p:spPr>
        <p:txBody>
          <a:bodyPr wrap="square" anchor="t">
            <a:spAutoFit/>
          </a:bodyPr>
          <a:lstStyle/>
          <a:p>
            <a:pPr algn="l">
              <a:defRPr sz="1300" b="1" i="0">
                <a:solidFill>
                  <a:srgbClr val="0D1B3E"/>
                </a:solidFill>
                <a:latin typeface="Georgia"/>
              </a:defRPr>
            </a:pPr>
            <a:r>
              <a:t>When one wakes, wake the other.</a:t>
            </a:r>
          </a:p>
        </p:txBody>
      </p:sp>
      <p:sp>
        <p:nvSpPr>
          <p:cNvPr id="21" name="Rectangle 20"/>
          <p:cNvSpPr/>
          <p:nvPr/>
        </p:nvSpPr>
        <p:spPr>
          <a:xfrm>
            <a:off x="1872000" y="2844000"/>
            <a:ext cx="7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872000" y="2952000"/>
            <a:ext cx="4788000" cy="792000"/>
          </a:xfrm>
          <a:prstGeom prst="rect">
            <a:avLst/>
          </a:prstGeom>
          <a:noFill/>
        </p:spPr>
        <p:txBody>
          <a:bodyPr wrap="square" anchor="t">
            <a:spAutoFit/>
          </a:bodyPr>
          <a:lstStyle/>
          <a:p>
            <a:pPr algn="l">
              <a:defRPr sz="1000" b="0" i="0">
                <a:solidFill>
                  <a:srgbClr val="4A5568"/>
                </a:solidFill>
                <a:latin typeface="Arial"/>
              </a:defRPr>
            </a:pPr>
            <a:r>
              <a:t>Sounds harsh. Saves your sanity. They will fight you on Day 1. By Day 3 they're synchronised — and YOU are sleeping. Trust this rule above all others.</a:t>
            </a:r>
          </a:p>
        </p:txBody>
      </p:sp>
      <p:sp>
        <p:nvSpPr>
          <p:cNvPr id="23" name="Rounded Rectangle 22"/>
          <p:cNvSpPr/>
          <p:nvPr/>
        </p:nvSpPr>
        <p:spPr>
          <a:xfrm>
            <a:off x="720000" y="3888000"/>
            <a:ext cx="6120000" cy="1512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0000" y="3888000"/>
            <a:ext cx="90000" cy="1512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36000" y="4139999"/>
            <a:ext cx="720000" cy="720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6000" y="4212000"/>
            <a:ext cx="720000" cy="576000"/>
          </a:xfrm>
          <a:prstGeom prst="rect">
            <a:avLst/>
          </a:prstGeom>
          <a:noFill/>
        </p:spPr>
        <p:txBody>
          <a:bodyPr wrap="square" anchor="ctr">
            <a:spAutoFit/>
          </a:bodyPr>
          <a:lstStyle/>
          <a:p>
            <a:pPr algn="ctr">
              <a:defRPr sz="2000" b="1" i="0">
                <a:solidFill>
                  <a:srgbClr val="C9A84C"/>
                </a:solidFill>
                <a:latin typeface="Georgia"/>
              </a:defRPr>
            </a:pPr>
            <a:r>
              <a:t>02</a:t>
            </a:r>
          </a:p>
        </p:txBody>
      </p:sp>
      <p:sp>
        <p:nvSpPr>
          <p:cNvPr id="27" name="TextBox 26"/>
          <p:cNvSpPr txBox="1"/>
          <p:nvPr/>
        </p:nvSpPr>
        <p:spPr>
          <a:xfrm>
            <a:off x="1872000" y="4068000"/>
            <a:ext cx="4680000" cy="288000"/>
          </a:xfrm>
          <a:prstGeom prst="rect">
            <a:avLst/>
          </a:prstGeom>
          <a:noFill/>
        </p:spPr>
        <p:txBody>
          <a:bodyPr wrap="square" anchor="t">
            <a:spAutoFit/>
          </a:bodyPr>
          <a:lstStyle/>
          <a:p>
            <a:pPr algn="l">
              <a:defRPr sz="1300" b="1" i="0">
                <a:solidFill>
                  <a:srgbClr val="0D1B3E"/>
                </a:solidFill>
                <a:latin typeface="Georgia"/>
              </a:defRPr>
            </a:pPr>
            <a:r>
              <a:t>Train BOTH simultaneously.</a:t>
            </a:r>
          </a:p>
        </p:txBody>
      </p:sp>
      <p:sp>
        <p:nvSpPr>
          <p:cNvPr id="28" name="Rectangle 27"/>
          <p:cNvSpPr/>
          <p:nvPr/>
        </p:nvSpPr>
        <p:spPr>
          <a:xfrm>
            <a:off x="1872000" y="4428000"/>
            <a:ext cx="7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872000" y="4536000"/>
            <a:ext cx="4788000" cy="792000"/>
          </a:xfrm>
          <a:prstGeom prst="rect">
            <a:avLst/>
          </a:prstGeom>
          <a:noFill/>
        </p:spPr>
        <p:txBody>
          <a:bodyPr wrap="square" anchor="t">
            <a:spAutoFit/>
          </a:bodyPr>
          <a:lstStyle/>
          <a:p>
            <a:pPr algn="l">
              <a:defRPr sz="1000" b="0" i="0">
                <a:solidFill>
                  <a:srgbClr val="4A5568"/>
                </a:solidFill>
                <a:latin typeface="Arial"/>
              </a:defRPr>
            </a:pPr>
            <a:r>
              <a:t>Same method. Same night. Same response time. Yes, even if one is 'easier.' Doing one twin and not the other almost always means failing both.</a:t>
            </a:r>
          </a:p>
        </p:txBody>
      </p:sp>
      <p:sp>
        <p:nvSpPr>
          <p:cNvPr id="30" name="Rounded Rectangle 29"/>
          <p:cNvSpPr/>
          <p:nvPr/>
        </p:nvSpPr>
        <p:spPr>
          <a:xfrm>
            <a:off x="720000" y="5472000"/>
            <a:ext cx="6120000" cy="1512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0000" y="5472000"/>
            <a:ext cx="90000" cy="1512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36000" y="5723999"/>
            <a:ext cx="720000" cy="720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6000" y="5796000"/>
            <a:ext cx="720000" cy="576000"/>
          </a:xfrm>
          <a:prstGeom prst="rect">
            <a:avLst/>
          </a:prstGeom>
          <a:noFill/>
        </p:spPr>
        <p:txBody>
          <a:bodyPr wrap="square" anchor="ctr">
            <a:spAutoFit/>
          </a:bodyPr>
          <a:lstStyle/>
          <a:p>
            <a:pPr algn="ctr">
              <a:defRPr sz="2000" b="1" i="0">
                <a:solidFill>
                  <a:srgbClr val="C9A84C"/>
                </a:solidFill>
                <a:latin typeface="Georgia"/>
              </a:defRPr>
            </a:pPr>
            <a:r>
              <a:t>03</a:t>
            </a:r>
          </a:p>
        </p:txBody>
      </p:sp>
      <p:sp>
        <p:nvSpPr>
          <p:cNvPr id="34" name="TextBox 33"/>
          <p:cNvSpPr txBox="1"/>
          <p:nvPr/>
        </p:nvSpPr>
        <p:spPr>
          <a:xfrm>
            <a:off x="1872000" y="5652000"/>
            <a:ext cx="4680000" cy="288000"/>
          </a:xfrm>
          <a:prstGeom prst="rect">
            <a:avLst/>
          </a:prstGeom>
          <a:noFill/>
        </p:spPr>
        <p:txBody>
          <a:bodyPr wrap="square" anchor="t">
            <a:spAutoFit/>
          </a:bodyPr>
          <a:lstStyle/>
          <a:p>
            <a:pPr algn="l">
              <a:defRPr sz="1300" b="1" i="0">
                <a:solidFill>
                  <a:srgbClr val="0D1B3E"/>
                </a:solidFill>
                <a:latin typeface="Georgia"/>
              </a:defRPr>
            </a:pPr>
            <a:r>
              <a:t>Same room is fine.</a:t>
            </a:r>
          </a:p>
        </p:txBody>
      </p:sp>
      <p:sp>
        <p:nvSpPr>
          <p:cNvPr id="35" name="Rectangle 34"/>
          <p:cNvSpPr/>
          <p:nvPr/>
        </p:nvSpPr>
        <p:spPr>
          <a:xfrm>
            <a:off x="1872000" y="6012000"/>
            <a:ext cx="7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72000" y="6120000"/>
            <a:ext cx="4788000" cy="792000"/>
          </a:xfrm>
          <a:prstGeom prst="rect">
            <a:avLst/>
          </a:prstGeom>
          <a:noFill/>
        </p:spPr>
        <p:txBody>
          <a:bodyPr wrap="square" anchor="t">
            <a:spAutoFit/>
          </a:bodyPr>
          <a:lstStyle/>
          <a:p>
            <a:pPr algn="l">
              <a:defRPr sz="1000" b="0" i="0">
                <a:solidFill>
                  <a:srgbClr val="4A5568"/>
                </a:solidFill>
                <a:latin typeface="Arial"/>
              </a:defRPr>
            </a:pPr>
            <a:r>
              <a:t>They habituate to each other's sounds within 3–5 nights — faster than you'd believe. Don't separate them unless one has a medical reason. The white noise machine does the rest.</a:t>
            </a:r>
          </a:p>
        </p:txBody>
      </p:sp>
      <p:sp>
        <p:nvSpPr>
          <p:cNvPr id="37" name="Rounded Rectangle 36"/>
          <p:cNvSpPr/>
          <p:nvPr/>
        </p:nvSpPr>
        <p:spPr>
          <a:xfrm>
            <a:off x="720000" y="7056000"/>
            <a:ext cx="6120000" cy="1512000"/>
          </a:xfrm>
          <a:prstGeom prst="roundRect">
            <a:avLst/>
          </a:prstGeom>
          <a:solidFill>
            <a:srgbClr val="FFFFFF"/>
          </a:solidFill>
          <a:ln w="635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20000" y="7056000"/>
            <a:ext cx="90000" cy="1512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36000" y="7307999"/>
            <a:ext cx="720000" cy="720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6000" y="7380000"/>
            <a:ext cx="720000" cy="576000"/>
          </a:xfrm>
          <a:prstGeom prst="rect">
            <a:avLst/>
          </a:prstGeom>
          <a:noFill/>
        </p:spPr>
        <p:txBody>
          <a:bodyPr wrap="square" anchor="ctr">
            <a:spAutoFit/>
          </a:bodyPr>
          <a:lstStyle/>
          <a:p>
            <a:pPr algn="ctr">
              <a:defRPr sz="2000" b="1" i="0">
                <a:solidFill>
                  <a:srgbClr val="C9A84C"/>
                </a:solidFill>
                <a:latin typeface="Georgia"/>
              </a:defRPr>
            </a:pPr>
            <a:r>
              <a:t>04</a:t>
            </a:r>
          </a:p>
        </p:txBody>
      </p:sp>
      <p:sp>
        <p:nvSpPr>
          <p:cNvPr id="41" name="TextBox 40"/>
          <p:cNvSpPr txBox="1"/>
          <p:nvPr/>
        </p:nvSpPr>
        <p:spPr>
          <a:xfrm>
            <a:off x="1872000" y="7236000"/>
            <a:ext cx="4680000" cy="288000"/>
          </a:xfrm>
          <a:prstGeom prst="rect">
            <a:avLst/>
          </a:prstGeom>
          <a:noFill/>
        </p:spPr>
        <p:txBody>
          <a:bodyPr wrap="square" anchor="t">
            <a:spAutoFit/>
          </a:bodyPr>
          <a:lstStyle/>
          <a:p>
            <a:pPr algn="l">
              <a:defRPr sz="1300" b="1" i="0">
                <a:solidFill>
                  <a:srgbClr val="0D1B3E"/>
                </a:solidFill>
                <a:latin typeface="Georgia"/>
              </a:defRPr>
            </a:pPr>
            <a:r>
              <a:t>Accept they'll progress at different rates.</a:t>
            </a:r>
          </a:p>
        </p:txBody>
      </p:sp>
      <p:sp>
        <p:nvSpPr>
          <p:cNvPr id="42" name="Rectangle 41"/>
          <p:cNvSpPr/>
          <p:nvPr/>
        </p:nvSpPr>
        <p:spPr>
          <a:xfrm>
            <a:off x="1872000" y="7596000"/>
            <a:ext cx="7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72000" y="7704000"/>
            <a:ext cx="4788000" cy="792000"/>
          </a:xfrm>
          <a:prstGeom prst="rect">
            <a:avLst/>
          </a:prstGeom>
          <a:noFill/>
        </p:spPr>
        <p:txBody>
          <a:bodyPr wrap="square" anchor="t">
            <a:spAutoFit/>
          </a:bodyPr>
          <a:lstStyle/>
          <a:p>
            <a:pPr algn="l">
              <a:defRPr sz="1000" b="0" i="0">
                <a:solidFill>
                  <a:srgbClr val="4A5568"/>
                </a:solidFill>
                <a:latin typeface="Arial"/>
              </a:defRPr>
            </a:pPr>
            <a:r>
              <a:t>One will sleep through by Night 5. The other might take Night 8. That's normal. Don't move the slow one to a different method. Hold the line. They'll catch up.</a:t>
            </a:r>
          </a:p>
        </p:txBody>
      </p:sp>
      <p:sp>
        <p:nvSpPr>
          <p:cNvPr id="44" name="Rounded Rectangle 43"/>
          <p:cNvSpPr/>
          <p:nvPr/>
        </p:nvSpPr>
        <p:spPr>
          <a:xfrm>
            <a:off x="720000" y="8820000"/>
            <a:ext cx="6120000" cy="900000"/>
          </a:xfrm>
          <a:prstGeom prst="roundRect">
            <a:avLst/>
          </a:prstGeom>
          <a:solidFill>
            <a:srgbClr val="EB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0000" y="8820000"/>
            <a:ext cx="72000" cy="900000"/>
          </a:xfrm>
          <a:prstGeom prst="rect">
            <a:avLst/>
          </a:prstGeom>
          <a:solidFill>
            <a:srgbClr val="2D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6000" y="8892000"/>
            <a:ext cx="5760000" cy="144000"/>
          </a:xfrm>
          <a:prstGeom prst="rect">
            <a:avLst/>
          </a:prstGeom>
          <a:noFill/>
        </p:spPr>
        <p:txBody>
          <a:bodyPr wrap="square" anchor="t">
            <a:spAutoFit/>
          </a:bodyPr>
          <a:lstStyle/>
          <a:p>
            <a:pPr algn="l">
              <a:defRPr sz="750" b="1" i="0">
                <a:solidFill>
                  <a:srgbClr val="2D8A8A"/>
                </a:solidFill>
                <a:latin typeface="Arial"/>
              </a:defRPr>
            </a:pPr>
            <a:r>
              <a:t>ONE TWIN GETS SICK?</a:t>
            </a:r>
          </a:p>
        </p:txBody>
      </p:sp>
      <p:sp>
        <p:nvSpPr>
          <p:cNvPr id="47" name="TextBox 46"/>
          <p:cNvSpPr txBox="1"/>
          <p:nvPr/>
        </p:nvSpPr>
        <p:spPr>
          <a:xfrm>
            <a:off x="936000" y="9071999"/>
            <a:ext cx="5760000" cy="576000"/>
          </a:xfrm>
          <a:prstGeom prst="rect">
            <a:avLst/>
          </a:prstGeom>
          <a:noFill/>
        </p:spPr>
        <p:txBody>
          <a:bodyPr wrap="square" anchor="t">
            <a:spAutoFit/>
          </a:bodyPr>
          <a:lstStyle/>
          <a:p>
            <a:pPr algn="l">
              <a:defRPr sz="950" b="0" i="0">
                <a:solidFill>
                  <a:srgbClr val="0D1B3E"/>
                </a:solidFill>
                <a:latin typeface="Arial"/>
              </a:defRPr>
            </a:pPr>
            <a:r>
              <a:t>Pause for THAT twin only. Continue with the other. Resume the sick twin (3–5 night reset) when they recover.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Rectangle 1"/>
          <p:cNvSpPr/>
          <p:nvPr/>
        </p:nvSpPr>
        <p:spPr>
          <a:xfrm>
            <a:off x="0" y="0"/>
            <a:ext cx="7560000" cy="46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68000"/>
            <a:ext cx="756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
            <a:ext cx="2880000" cy="251999"/>
          </a:xfrm>
          <a:prstGeom prst="rect">
            <a:avLst/>
          </a:prstGeom>
          <a:noFill/>
        </p:spPr>
        <p:txBody>
          <a:bodyPr wrap="square" anchor="t">
            <a:spAutoFit/>
          </a:bodyPr>
          <a:lstStyle/>
          <a:p>
            <a:pPr algn="l">
              <a:defRPr sz="750" b="0" i="0">
                <a:solidFill>
                  <a:srgbClr val="FAF7F2"/>
                </a:solidFill>
                <a:latin typeface="Georgia"/>
              </a:defRPr>
            </a:pPr>
            <a:r>
              <a:t>Sleep, Baby. Please.</a:t>
            </a:r>
          </a:p>
        </p:txBody>
      </p:sp>
      <p:sp>
        <p:nvSpPr>
          <p:cNvPr id="5" name="TextBox 4"/>
          <p:cNvSpPr txBox="1"/>
          <p:nvPr/>
        </p:nvSpPr>
        <p:spPr>
          <a:xfrm>
            <a:off x="3960000" y="108000"/>
            <a:ext cx="2880000" cy="251999"/>
          </a:xfrm>
          <a:prstGeom prst="rect">
            <a:avLst/>
          </a:prstGeom>
          <a:noFill/>
        </p:spPr>
        <p:txBody>
          <a:bodyPr wrap="square" anchor="t">
            <a:spAutoFit/>
          </a:bodyPr>
          <a:lstStyle/>
          <a:p>
            <a:pPr algn="r">
              <a:defRPr sz="750" b="0" i="0">
                <a:solidFill>
                  <a:srgbClr val="E8C97A"/>
                </a:solidFill>
                <a:latin typeface="Arial"/>
              </a:defRPr>
            </a:pPr>
            <a:r>
              <a:t>Today's Schedule</a:t>
            </a:r>
          </a:p>
        </p:txBody>
      </p:sp>
      <p:sp>
        <p:nvSpPr>
          <p:cNvPr id="6" name="Rectangle 5"/>
          <p:cNvSpPr/>
          <p:nvPr/>
        </p:nvSpPr>
        <p:spPr>
          <a:xfrm>
            <a:off x="0" y="10116000"/>
            <a:ext cx="7560000" cy="576000"/>
          </a:xfrm>
          <a:prstGeom prst="rect">
            <a:avLst/>
          </a:prstGeom>
          <a:solidFill>
            <a:srgbClr val="F0EB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56000" y="10188000"/>
            <a:ext cx="468000" cy="468000"/>
          </a:xfrm>
          <a:prstGeom prst="ellipse">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000" y="10224000"/>
            <a:ext cx="468000" cy="396000"/>
          </a:xfrm>
          <a:prstGeom prst="rect">
            <a:avLst/>
          </a:prstGeom>
          <a:noFill/>
        </p:spPr>
        <p:txBody>
          <a:bodyPr wrap="square" anchor="ctr">
            <a:spAutoFit/>
          </a:bodyPr>
          <a:lstStyle/>
          <a:p>
            <a:pPr algn="ctr">
              <a:defRPr sz="900" b="1" i="0">
                <a:solidFill>
                  <a:srgbClr val="FFFFFF"/>
                </a:solidFill>
                <a:latin typeface="Arial"/>
              </a:defRPr>
            </a:pPr>
            <a:r>
              <a:t>4</a:t>
            </a:r>
          </a:p>
        </p:txBody>
      </p:sp>
      <p:sp>
        <p:nvSpPr>
          <p:cNvPr id="10" name="TextBox 9"/>
          <p:cNvSpPr txBox="1"/>
          <p:nvPr/>
        </p:nvSpPr>
        <p:spPr>
          <a:xfrm>
            <a:off x="720000" y="10224000"/>
            <a:ext cx="2520000" cy="251999"/>
          </a:xfrm>
          <a:prstGeom prst="rect">
            <a:avLst/>
          </a:prstGeom>
          <a:noFill/>
        </p:spPr>
        <p:txBody>
          <a:bodyPr wrap="square" anchor="t">
            <a:spAutoFit/>
          </a:bodyPr>
          <a:lstStyle/>
          <a:p>
            <a:pPr algn="l">
              <a:defRPr sz="700" b="0" i="0">
                <a:solidFill>
                  <a:srgbClr val="718096"/>
                </a:solidFill>
                <a:latin typeface="Arial"/>
              </a:defRPr>
            </a:pPr>
            <a:r>
              <a:t>Six &amp; Thriving  •  www.sixandthriving.com</a:t>
            </a:r>
          </a:p>
        </p:txBody>
      </p:sp>
      <p:sp>
        <p:nvSpPr>
          <p:cNvPr id="11" name="TextBox 10"/>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
        <p:nvSpPr>
          <p:cNvPr id="12" name="TextBox 11"/>
          <p:cNvSpPr txBox="1"/>
          <p:nvPr/>
        </p:nvSpPr>
        <p:spPr>
          <a:xfrm>
            <a:off x="720000" y="792000"/>
            <a:ext cx="5400000" cy="144000"/>
          </a:xfrm>
          <a:prstGeom prst="rect">
            <a:avLst/>
          </a:prstGeom>
          <a:noFill/>
        </p:spPr>
        <p:txBody>
          <a:bodyPr wrap="square" anchor="t">
            <a:spAutoFit/>
          </a:bodyPr>
          <a:lstStyle/>
          <a:p>
            <a:pPr algn="l">
              <a:defRPr sz="700" b="1" i="0">
                <a:solidFill>
                  <a:srgbClr val="C9A84C"/>
                </a:solidFill>
                <a:latin typeface="Arial"/>
              </a:defRPr>
            </a:pPr>
            <a:r>
              <a:t>PRINTABLE PLANNER</a:t>
            </a:r>
          </a:p>
        </p:txBody>
      </p:sp>
      <p:sp>
        <p:nvSpPr>
          <p:cNvPr id="13" name="Rectangle 12"/>
          <p:cNvSpPr/>
          <p:nvPr/>
        </p:nvSpPr>
        <p:spPr>
          <a:xfrm>
            <a:off x="720000" y="972000"/>
            <a:ext cx="612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1116000"/>
            <a:ext cx="6120000" cy="540000"/>
          </a:xfrm>
          <a:prstGeom prst="rect">
            <a:avLst/>
          </a:prstGeom>
          <a:noFill/>
        </p:spPr>
        <p:txBody>
          <a:bodyPr wrap="square" anchor="t">
            <a:spAutoFit/>
          </a:bodyPr>
          <a:lstStyle/>
          <a:p>
            <a:pPr algn="l">
              <a:defRPr sz="2200" b="1" i="0">
                <a:solidFill>
                  <a:srgbClr val="0D1B3E"/>
                </a:solidFill>
                <a:latin typeface="Georgia"/>
              </a:defRPr>
            </a:pPr>
            <a:r>
              <a:t>Today's Synchronised Schedule</a:t>
            </a:r>
          </a:p>
        </p:txBody>
      </p:sp>
      <p:sp>
        <p:nvSpPr>
          <p:cNvPr id="15" name="TextBox 14"/>
          <p:cNvSpPr txBox="1"/>
          <p:nvPr/>
        </p:nvSpPr>
        <p:spPr>
          <a:xfrm>
            <a:off x="720000" y="1800000"/>
            <a:ext cx="6120000" cy="216000"/>
          </a:xfrm>
          <a:prstGeom prst="rect">
            <a:avLst/>
          </a:prstGeom>
          <a:noFill/>
        </p:spPr>
        <p:txBody>
          <a:bodyPr wrap="square" anchor="t">
            <a:spAutoFit/>
          </a:bodyPr>
          <a:lstStyle/>
          <a:p>
            <a:pPr algn="l">
              <a:defRPr sz="1100" b="0" i="1">
                <a:solidFill>
                  <a:srgbClr val="C9A84C"/>
                </a:solidFill>
                <a:latin typeface="Arial"/>
              </a:defRPr>
            </a:pPr>
            <a:r>
              <a:t>Print this. Fill it in each morning. Stick it on the fridge.</a:t>
            </a:r>
          </a:p>
        </p:txBody>
      </p:sp>
      <p:sp>
        <p:nvSpPr>
          <p:cNvPr id="16" name="Rectangle 15"/>
          <p:cNvSpPr/>
          <p:nvPr/>
        </p:nvSpPr>
        <p:spPr>
          <a:xfrm>
            <a:off x="720000" y="2304000"/>
            <a:ext cx="6120000" cy="360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2394000"/>
            <a:ext cx="1440000" cy="216000"/>
          </a:xfrm>
          <a:prstGeom prst="rect">
            <a:avLst/>
          </a:prstGeom>
          <a:noFill/>
        </p:spPr>
        <p:txBody>
          <a:bodyPr wrap="square" anchor="t">
            <a:spAutoFit/>
          </a:bodyPr>
          <a:lstStyle/>
          <a:p>
            <a:pPr algn="ctr">
              <a:defRPr sz="1000" b="1" i="0">
                <a:solidFill>
                  <a:srgbClr val="FFFFFF"/>
                </a:solidFill>
                <a:latin typeface="Arial"/>
              </a:defRPr>
            </a:pPr>
            <a:r>
              <a:t>Schedule Item</a:t>
            </a:r>
          </a:p>
        </p:txBody>
      </p:sp>
      <p:sp>
        <p:nvSpPr>
          <p:cNvPr id="18" name="TextBox 17"/>
          <p:cNvSpPr txBox="1"/>
          <p:nvPr/>
        </p:nvSpPr>
        <p:spPr>
          <a:xfrm>
            <a:off x="2160000" y="2394000"/>
            <a:ext cx="2340000" cy="216000"/>
          </a:xfrm>
          <a:prstGeom prst="rect">
            <a:avLst/>
          </a:prstGeom>
          <a:noFill/>
        </p:spPr>
        <p:txBody>
          <a:bodyPr wrap="square" anchor="t">
            <a:spAutoFit/>
          </a:bodyPr>
          <a:lstStyle/>
          <a:p>
            <a:pPr algn="ctr">
              <a:defRPr sz="1100" b="1" i="0">
                <a:solidFill>
                  <a:srgbClr val="C9A84C"/>
                </a:solidFill>
                <a:latin typeface="Georgia"/>
              </a:defRPr>
            </a:pPr>
            <a:r>
              <a:t>Twin A</a:t>
            </a:r>
          </a:p>
        </p:txBody>
      </p:sp>
      <p:sp>
        <p:nvSpPr>
          <p:cNvPr id="19" name="TextBox 18"/>
          <p:cNvSpPr txBox="1"/>
          <p:nvPr/>
        </p:nvSpPr>
        <p:spPr>
          <a:xfrm>
            <a:off x="4500000" y="2394000"/>
            <a:ext cx="2340000" cy="216000"/>
          </a:xfrm>
          <a:prstGeom prst="rect">
            <a:avLst/>
          </a:prstGeom>
          <a:noFill/>
        </p:spPr>
        <p:txBody>
          <a:bodyPr wrap="square" anchor="t">
            <a:spAutoFit/>
          </a:bodyPr>
          <a:lstStyle/>
          <a:p>
            <a:pPr algn="ctr">
              <a:defRPr sz="1100" b="1" i="0">
                <a:solidFill>
                  <a:srgbClr val="C9A84C"/>
                </a:solidFill>
                <a:latin typeface="Georgia"/>
              </a:defRPr>
            </a:pPr>
            <a:r>
              <a:t>Twin B</a:t>
            </a:r>
          </a:p>
        </p:txBody>
      </p:sp>
      <p:sp>
        <p:nvSpPr>
          <p:cNvPr id="20" name="Rectangle 19"/>
          <p:cNvSpPr/>
          <p:nvPr/>
        </p:nvSpPr>
        <p:spPr>
          <a:xfrm>
            <a:off x="720000" y="2664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999" y="2789999"/>
            <a:ext cx="1440000" cy="216000"/>
          </a:xfrm>
          <a:prstGeom prst="rect">
            <a:avLst/>
          </a:prstGeom>
          <a:noFill/>
        </p:spPr>
        <p:txBody>
          <a:bodyPr wrap="square" anchor="t">
            <a:spAutoFit/>
          </a:bodyPr>
          <a:lstStyle/>
          <a:p>
            <a:pPr algn="l">
              <a:defRPr sz="1000" b="1" i="0">
                <a:solidFill>
                  <a:srgbClr val="0D1B3E"/>
                </a:solidFill>
                <a:latin typeface="Arial"/>
              </a:defRPr>
            </a:pPr>
            <a:r>
              <a:t>Wake Time</a:t>
            </a:r>
          </a:p>
        </p:txBody>
      </p:sp>
      <p:sp>
        <p:nvSpPr>
          <p:cNvPr id="22" name="Rounded Rectangle 21"/>
          <p:cNvSpPr/>
          <p:nvPr/>
        </p:nvSpPr>
        <p:spPr>
          <a:xfrm>
            <a:off x="2232000" y="273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72000" y="273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0000" y="3132000"/>
            <a:ext cx="6120000" cy="468000"/>
          </a:xfrm>
          <a:prstGeom prst="rect">
            <a:avLst/>
          </a:prstGeom>
          <a:solidFill>
            <a:srgbClr val="F0EBE1"/>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999" y="3257999"/>
            <a:ext cx="1440000" cy="216000"/>
          </a:xfrm>
          <a:prstGeom prst="rect">
            <a:avLst/>
          </a:prstGeom>
          <a:noFill/>
        </p:spPr>
        <p:txBody>
          <a:bodyPr wrap="square" anchor="t">
            <a:spAutoFit/>
          </a:bodyPr>
          <a:lstStyle/>
          <a:p>
            <a:pPr algn="l">
              <a:defRPr sz="1000" b="1" i="0">
                <a:solidFill>
                  <a:srgbClr val="0D1B3E"/>
                </a:solidFill>
                <a:latin typeface="Arial"/>
              </a:defRPr>
            </a:pPr>
            <a:r>
              <a:t>Morning Feed</a:t>
            </a:r>
          </a:p>
        </p:txBody>
      </p:sp>
      <p:sp>
        <p:nvSpPr>
          <p:cNvPr id="26" name="Rounded Rectangle 25"/>
          <p:cNvSpPr/>
          <p:nvPr/>
        </p:nvSpPr>
        <p:spPr>
          <a:xfrm>
            <a:off x="2232000" y="3204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572000" y="3204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0000" y="3600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999" y="3725999"/>
            <a:ext cx="1440000" cy="216000"/>
          </a:xfrm>
          <a:prstGeom prst="rect">
            <a:avLst/>
          </a:prstGeom>
          <a:noFill/>
        </p:spPr>
        <p:txBody>
          <a:bodyPr wrap="square" anchor="t">
            <a:spAutoFit/>
          </a:bodyPr>
          <a:lstStyle/>
          <a:p>
            <a:pPr algn="l">
              <a:defRPr sz="1000" b="1" i="0">
                <a:solidFill>
                  <a:srgbClr val="0D1B3E"/>
                </a:solidFill>
                <a:latin typeface="Arial"/>
              </a:defRPr>
            </a:pPr>
            <a:r>
              <a:t>Morning Nap</a:t>
            </a:r>
          </a:p>
        </p:txBody>
      </p:sp>
      <p:sp>
        <p:nvSpPr>
          <p:cNvPr id="30" name="Rounded Rectangle 29"/>
          <p:cNvSpPr/>
          <p:nvPr/>
        </p:nvSpPr>
        <p:spPr>
          <a:xfrm>
            <a:off x="2232000" y="3672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572000" y="3672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0000" y="4068000"/>
            <a:ext cx="6120000" cy="468000"/>
          </a:xfrm>
          <a:prstGeom prst="rect">
            <a:avLst/>
          </a:prstGeom>
          <a:solidFill>
            <a:srgbClr val="F0EBE1"/>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7999" y="4193999"/>
            <a:ext cx="1440000" cy="216000"/>
          </a:xfrm>
          <a:prstGeom prst="rect">
            <a:avLst/>
          </a:prstGeom>
          <a:noFill/>
        </p:spPr>
        <p:txBody>
          <a:bodyPr wrap="square" anchor="t">
            <a:spAutoFit/>
          </a:bodyPr>
          <a:lstStyle/>
          <a:p>
            <a:pPr algn="l">
              <a:defRPr sz="1000" b="1" i="0">
                <a:solidFill>
                  <a:srgbClr val="0D1B3E"/>
                </a:solidFill>
                <a:latin typeface="Arial"/>
              </a:defRPr>
            </a:pPr>
            <a:r>
              <a:t>Midday Feed</a:t>
            </a:r>
          </a:p>
        </p:txBody>
      </p:sp>
      <p:sp>
        <p:nvSpPr>
          <p:cNvPr id="34" name="Rounded Rectangle 33"/>
          <p:cNvSpPr/>
          <p:nvPr/>
        </p:nvSpPr>
        <p:spPr>
          <a:xfrm>
            <a:off x="2232000" y="4140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572000" y="4140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0000" y="4536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999" y="4661999"/>
            <a:ext cx="1440000" cy="216000"/>
          </a:xfrm>
          <a:prstGeom prst="rect">
            <a:avLst/>
          </a:prstGeom>
          <a:noFill/>
        </p:spPr>
        <p:txBody>
          <a:bodyPr wrap="square" anchor="t">
            <a:spAutoFit/>
          </a:bodyPr>
          <a:lstStyle/>
          <a:p>
            <a:pPr algn="l">
              <a:defRPr sz="1000" b="1" i="0">
                <a:solidFill>
                  <a:srgbClr val="0D1B3E"/>
                </a:solidFill>
                <a:latin typeface="Arial"/>
              </a:defRPr>
            </a:pPr>
            <a:r>
              <a:t>Midday Nap</a:t>
            </a:r>
          </a:p>
        </p:txBody>
      </p:sp>
      <p:sp>
        <p:nvSpPr>
          <p:cNvPr id="38" name="Rounded Rectangle 37"/>
          <p:cNvSpPr/>
          <p:nvPr/>
        </p:nvSpPr>
        <p:spPr>
          <a:xfrm>
            <a:off x="2232000" y="4608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572000" y="4608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20000" y="5004000"/>
            <a:ext cx="6120000" cy="468000"/>
          </a:xfrm>
          <a:prstGeom prst="rect">
            <a:avLst/>
          </a:prstGeom>
          <a:solidFill>
            <a:srgbClr val="F0EBE1"/>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7999" y="5129999"/>
            <a:ext cx="1440000" cy="216000"/>
          </a:xfrm>
          <a:prstGeom prst="rect">
            <a:avLst/>
          </a:prstGeom>
          <a:noFill/>
        </p:spPr>
        <p:txBody>
          <a:bodyPr wrap="square" anchor="t">
            <a:spAutoFit/>
          </a:bodyPr>
          <a:lstStyle/>
          <a:p>
            <a:pPr algn="l">
              <a:defRPr sz="1000" b="1" i="0">
                <a:solidFill>
                  <a:srgbClr val="0D1B3E"/>
                </a:solidFill>
                <a:latin typeface="Arial"/>
              </a:defRPr>
            </a:pPr>
            <a:r>
              <a:t>Afternoon Feed</a:t>
            </a:r>
          </a:p>
        </p:txBody>
      </p:sp>
      <p:sp>
        <p:nvSpPr>
          <p:cNvPr id="42" name="Rounded Rectangle 41"/>
          <p:cNvSpPr/>
          <p:nvPr/>
        </p:nvSpPr>
        <p:spPr>
          <a:xfrm>
            <a:off x="2232000" y="507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572000" y="507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20000" y="5472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7999" y="5597999"/>
            <a:ext cx="1440000" cy="216000"/>
          </a:xfrm>
          <a:prstGeom prst="rect">
            <a:avLst/>
          </a:prstGeom>
          <a:noFill/>
        </p:spPr>
        <p:txBody>
          <a:bodyPr wrap="square" anchor="t">
            <a:spAutoFit/>
          </a:bodyPr>
          <a:lstStyle/>
          <a:p>
            <a:pPr algn="l">
              <a:defRPr sz="1000" b="1" i="0">
                <a:solidFill>
                  <a:srgbClr val="0D1B3E"/>
                </a:solidFill>
                <a:latin typeface="Arial"/>
              </a:defRPr>
            </a:pPr>
            <a:r>
              <a:t>Afternoon Nap</a:t>
            </a:r>
          </a:p>
        </p:txBody>
      </p:sp>
      <p:sp>
        <p:nvSpPr>
          <p:cNvPr id="46" name="Rounded Rectangle 45"/>
          <p:cNvSpPr/>
          <p:nvPr/>
        </p:nvSpPr>
        <p:spPr>
          <a:xfrm>
            <a:off x="2232000" y="5544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572000" y="5544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20000" y="5940000"/>
            <a:ext cx="6120000" cy="468000"/>
          </a:xfrm>
          <a:prstGeom prst="rect">
            <a:avLst/>
          </a:prstGeom>
          <a:solidFill>
            <a:srgbClr val="F0EBE1"/>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7999" y="6065999"/>
            <a:ext cx="1440000" cy="216000"/>
          </a:xfrm>
          <a:prstGeom prst="rect">
            <a:avLst/>
          </a:prstGeom>
          <a:noFill/>
        </p:spPr>
        <p:txBody>
          <a:bodyPr wrap="square" anchor="t">
            <a:spAutoFit/>
          </a:bodyPr>
          <a:lstStyle/>
          <a:p>
            <a:pPr algn="l">
              <a:defRPr sz="1000" b="1" i="0">
                <a:solidFill>
                  <a:srgbClr val="0D1B3E"/>
                </a:solidFill>
                <a:latin typeface="Arial"/>
              </a:defRPr>
            </a:pPr>
            <a:r>
              <a:t>Bedtime Routine</a:t>
            </a:r>
          </a:p>
        </p:txBody>
      </p:sp>
      <p:sp>
        <p:nvSpPr>
          <p:cNvPr id="50" name="Rounded Rectangle 49"/>
          <p:cNvSpPr/>
          <p:nvPr/>
        </p:nvSpPr>
        <p:spPr>
          <a:xfrm>
            <a:off x="2232000" y="6012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572000" y="6012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20000" y="6408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7999" y="6533999"/>
            <a:ext cx="1440000" cy="216000"/>
          </a:xfrm>
          <a:prstGeom prst="rect">
            <a:avLst/>
          </a:prstGeom>
          <a:noFill/>
        </p:spPr>
        <p:txBody>
          <a:bodyPr wrap="square" anchor="t">
            <a:spAutoFit/>
          </a:bodyPr>
          <a:lstStyle/>
          <a:p>
            <a:pPr algn="l">
              <a:defRPr sz="1000" b="1" i="0">
                <a:solidFill>
                  <a:srgbClr val="0D1B3E"/>
                </a:solidFill>
                <a:latin typeface="Arial"/>
              </a:defRPr>
            </a:pPr>
            <a:r>
              <a:t>Lights Out</a:t>
            </a:r>
          </a:p>
        </p:txBody>
      </p:sp>
      <p:sp>
        <p:nvSpPr>
          <p:cNvPr id="54" name="Rounded Rectangle 53"/>
          <p:cNvSpPr/>
          <p:nvPr/>
        </p:nvSpPr>
        <p:spPr>
          <a:xfrm>
            <a:off x="2232000" y="6480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4572000" y="6480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20000" y="6876000"/>
            <a:ext cx="6120000" cy="468000"/>
          </a:xfrm>
          <a:prstGeom prst="rect">
            <a:avLst/>
          </a:prstGeom>
          <a:solidFill>
            <a:srgbClr val="F0EBE1"/>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7999" y="7001999"/>
            <a:ext cx="1440000" cy="216000"/>
          </a:xfrm>
          <a:prstGeom prst="rect">
            <a:avLst/>
          </a:prstGeom>
          <a:noFill/>
        </p:spPr>
        <p:txBody>
          <a:bodyPr wrap="square" anchor="t">
            <a:spAutoFit/>
          </a:bodyPr>
          <a:lstStyle/>
          <a:p>
            <a:pPr algn="l">
              <a:defRPr sz="1000" b="1" i="0">
                <a:solidFill>
                  <a:srgbClr val="0D1B3E"/>
                </a:solidFill>
                <a:latin typeface="Arial"/>
              </a:defRPr>
            </a:pPr>
            <a:r>
              <a:t>Night Wake 1</a:t>
            </a:r>
          </a:p>
        </p:txBody>
      </p:sp>
      <p:sp>
        <p:nvSpPr>
          <p:cNvPr id="58" name="Rounded Rectangle 57"/>
          <p:cNvSpPr/>
          <p:nvPr/>
        </p:nvSpPr>
        <p:spPr>
          <a:xfrm>
            <a:off x="2232000" y="6948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572000" y="6948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20000" y="7344000"/>
            <a:ext cx="6120000" cy="468000"/>
          </a:xfrm>
          <a:prstGeom prst="rect">
            <a:avLst/>
          </a:prstGeom>
          <a:solidFill>
            <a:srgbClr val="FFFFFF"/>
          </a:solidFill>
          <a:ln w="3810">
            <a:solidFill>
              <a:srgbClr val="F0EB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7999" y="7469999"/>
            <a:ext cx="1440000" cy="216000"/>
          </a:xfrm>
          <a:prstGeom prst="rect">
            <a:avLst/>
          </a:prstGeom>
          <a:noFill/>
        </p:spPr>
        <p:txBody>
          <a:bodyPr wrap="square" anchor="t">
            <a:spAutoFit/>
          </a:bodyPr>
          <a:lstStyle/>
          <a:p>
            <a:pPr algn="l">
              <a:defRPr sz="1000" b="1" i="0">
                <a:solidFill>
                  <a:srgbClr val="0D1B3E"/>
                </a:solidFill>
                <a:latin typeface="Arial"/>
              </a:defRPr>
            </a:pPr>
            <a:r>
              <a:t>Night Wake 2</a:t>
            </a:r>
          </a:p>
        </p:txBody>
      </p:sp>
      <p:sp>
        <p:nvSpPr>
          <p:cNvPr id="62" name="Rounded Rectangle 61"/>
          <p:cNvSpPr/>
          <p:nvPr/>
        </p:nvSpPr>
        <p:spPr>
          <a:xfrm>
            <a:off x="2232000" y="741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572000" y="7416000"/>
            <a:ext cx="2160000" cy="324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0000" y="7920000"/>
            <a:ext cx="6120000" cy="216000"/>
          </a:xfrm>
          <a:prstGeom prst="rect">
            <a:avLst/>
          </a:prstGeom>
          <a:noFill/>
        </p:spPr>
        <p:txBody>
          <a:bodyPr wrap="square" anchor="t">
            <a:spAutoFit/>
          </a:bodyPr>
          <a:lstStyle/>
          <a:p>
            <a:pPr algn="l">
              <a:defRPr sz="1100" b="1" i="0">
                <a:solidFill>
                  <a:srgbClr val="0D1B3E"/>
                </a:solidFill>
                <a:latin typeface="Georgia"/>
              </a:defRPr>
            </a:pPr>
            <a:r>
              <a:t>Notes &amp; observations:</a:t>
            </a:r>
          </a:p>
        </p:txBody>
      </p:sp>
      <p:sp>
        <p:nvSpPr>
          <p:cNvPr id="65" name="Rounded Rectangle 64"/>
          <p:cNvSpPr/>
          <p:nvPr/>
        </p:nvSpPr>
        <p:spPr>
          <a:xfrm>
            <a:off x="720000" y="8171999"/>
            <a:ext cx="6120000" cy="900000"/>
          </a:xfrm>
          <a:prstGeom prst="roundRect">
            <a:avLst/>
          </a:prstGeom>
          <a:solidFill>
            <a:srgbClr val="FFFFFF"/>
          </a:solidFill>
          <a:ln w="10160">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Oval 1"/>
          <p:cNvSpPr/>
          <p:nvPr/>
        </p:nvSpPr>
        <p:spPr>
          <a:xfrm>
            <a:off x="5400000" y="-1080000"/>
            <a:ext cx="4320000" cy="4320000"/>
          </a:xfrm>
          <a:prstGeom prst="ellipse">
            <a:avLst/>
          </a:prstGeom>
          <a:solidFill>
            <a:srgbClr val="1E2F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40000" y="7200000"/>
            <a:ext cx="2880000" cy="2880000"/>
          </a:xfrm>
          <a:prstGeom prst="ellipse">
            <a:avLst/>
          </a:prstGeom>
          <a:solidFill>
            <a:srgbClr val="16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0512000"/>
            <a:ext cx="7560000" cy="180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0000" y="1080000"/>
            <a:ext cx="6120000" cy="216000"/>
          </a:xfrm>
          <a:prstGeom prst="rect">
            <a:avLst/>
          </a:prstGeom>
          <a:noFill/>
        </p:spPr>
        <p:txBody>
          <a:bodyPr wrap="square" anchor="t">
            <a:spAutoFit/>
          </a:bodyPr>
          <a:lstStyle/>
          <a:p>
            <a:pPr algn="ctr">
              <a:defRPr sz="900" b="1" i="0">
                <a:solidFill>
                  <a:srgbClr val="C9A84C"/>
                </a:solidFill>
                <a:latin typeface="Arial"/>
              </a:defRPr>
            </a:pPr>
            <a:r>
              <a:t>ONE LAST THING — IF YOU WANT THE FULL TWIN PLAYBOOK</a:t>
            </a:r>
          </a:p>
        </p:txBody>
      </p:sp>
      <p:sp>
        <p:nvSpPr>
          <p:cNvPr id="7" name="TextBox 6"/>
          <p:cNvSpPr txBox="1"/>
          <p:nvPr/>
        </p:nvSpPr>
        <p:spPr>
          <a:xfrm>
            <a:off x="720000" y="1980000"/>
            <a:ext cx="6120000" cy="900000"/>
          </a:xfrm>
          <a:prstGeom prst="rect">
            <a:avLst/>
          </a:prstGeom>
          <a:noFill/>
        </p:spPr>
        <p:txBody>
          <a:bodyPr wrap="square" anchor="t">
            <a:spAutoFit/>
          </a:bodyPr>
          <a:lstStyle/>
          <a:p>
            <a:pPr algn="ctr">
              <a:defRPr sz="4000" b="1" i="0">
                <a:solidFill>
                  <a:srgbClr val="FFFFFF"/>
                </a:solidFill>
                <a:latin typeface="Georgia"/>
              </a:defRPr>
            </a:pPr>
            <a:r>
              <a:t>Two babies.</a:t>
            </a:r>
          </a:p>
        </p:txBody>
      </p:sp>
      <p:sp>
        <p:nvSpPr>
          <p:cNvPr id="8" name="TextBox 7"/>
          <p:cNvSpPr txBox="1"/>
          <p:nvPr/>
        </p:nvSpPr>
        <p:spPr>
          <a:xfrm>
            <a:off x="720000" y="2880000"/>
            <a:ext cx="6120000" cy="900000"/>
          </a:xfrm>
          <a:prstGeom prst="rect">
            <a:avLst/>
          </a:prstGeom>
          <a:noFill/>
        </p:spPr>
        <p:txBody>
          <a:bodyPr wrap="square" anchor="t">
            <a:spAutoFit/>
          </a:bodyPr>
          <a:lstStyle/>
          <a:p>
            <a:pPr algn="ctr">
              <a:defRPr sz="4000" b="1" i="1">
                <a:solidFill>
                  <a:srgbClr val="C9A84C"/>
                </a:solidFill>
                <a:latin typeface="Georgia"/>
              </a:defRPr>
            </a:pPr>
            <a:r>
              <a:t>One sleep system.</a:t>
            </a:r>
          </a:p>
        </p:txBody>
      </p:sp>
      <p:sp>
        <p:nvSpPr>
          <p:cNvPr id="9" name="Rectangle 8"/>
          <p:cNvSpPr/>
          <p:nvPr/>
        </p:nvSpPr>
        <p:spPr>
          <a:xfrm>
            <a:off x="3060000" y="3960000"/>
            <a:ext cx="1440000" cy="432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0000" y="4248000"/>
            <a:ext cx="6120000" cy="2520000"/>
          </a:xfrm>
          <a:prstGeom prst="rect">
            <a:avLst/>
          </a:prstGeom>
          <a:noFill/>
        </p:spPr>
        <p:txBody>
          <a:bodyPr wrap="square">
            <a:spAutoFit/>
          </a:bodyPr>
          <a:lstStyle/>
          <a:p>
            <a:pPr algn="ctr">
              <a:spcAft>
                <a:spcPts val="800"/>
              </a:spcAft>
              <a:defRPr sz="1100" b="0" i="0">
                <a:solidFill>
                  <a:srgbClr val="F0EBE1"/>
                </a:solidFill>
                <a:latin typeface="Arial"/>
              </a:defRPr>
            </a:pPr>
            <a:r>
              <a:t>Chapter 14 of the full book covers the entire twin sleep playbook — including how to handle one twin sick while the other isn't, how to handle different temperaments, the Crib Hour technique for catnappers (very common in twins), and what to do when room-sharing isn't working.</a:t>
            </a:r>
          </a:p>
          <a:p>
            <a:pPr algn="ctr">
              <a:spcAft>
                <a:spcPts val="800"/>
              </a:spcAft>
              <a:defRPr sz="1100" b="0" i="0">
                <a:solidFill>
                  <a:srgbClr val="F0EBE1"/>
                </a:solidFill>
                <a:latin typeface="Arial"/>
              </a:defRPr>
            </a:pPr>
            <a:r>
              <a:t>Plus the full 7-night plan that worked for my own twins — and hundreds of other twin families who've used it since.</a:t>
            </a:r>
          </a:p>
          <a:p>
            <a:pPr algn="ctr">
              <a:spcAft>
                <a:spcPts val="600"/>
              </a:spcAft>
              <a:defRPr sz="1300" b="0" i="1">
                <a:solidFill>
                  <a:srgbClr val="E8C97A"/>
                </a:solidFill>
                <a:latin typeface="Georgia"/>
              </a:defRPr>
            </a:pPr>
            <a:r>
              <a:t>By a mom who actually has twins.</a:t>
            </a:r>
          </a:p>
        </p:txBody>
      </p:sp>
      <p:sp>
        <p:nvSpPr>
          <p:cNvPr id="11" name="Rounded Rectangle 10"/>
          <p:cNvSpPr/>
          <p:nvPr/>
        </p:nvSpPr>
        <p:spPr>
          <a:xfrm>
            <a:off x="720000" y="7020000"/>
            <a:ext cx="6120000" cy="2160000"/>
          </a:xfrm>
          <a:prstGeom prst="round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0000" y="7092000"/>
            <a:ext cx="54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0000" y="9072000"/>
            <a:ext cx="54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0000" y="7200000"/>
            <a:ext cx="6120000" cy="360000"/>
          </a:xfrm>
          <a:prstGeom prst="rect">
            <a:avLst/>
          </a:prstGeom>
          <a:noFill/>
        </p:spPr>
        <p:txBody>
          <a:bodyPr wrap="square" anchor="t">
            <a:spAutoFit/>
          </a:bodyPr>
          <a:lstStyle/>
          <a:p>
            <a:pPr algn="ctr">
              <a:defRPr sz="2200" b="1" i="0">
                <a:solidFill>
                  <a:srgbClr val="0D1B3E"/>
                </a:solidFill>
                <a:latin typeface="Georgia"/>
              </a:defRPr>
            </a:pPr>
            <a:r>
              <a:t>Want the full plan?</a:t>
            </a:r>
          </a:p>
        </p:txBody>
      </p:sp>
      <p:sp>
        <p:nvSpPr>
          <p:cNvPr id="15" name="TextBox 14"/>
          <p:cNvSpPr txBox="1"/>
          <p:nvPr/>
        </p:nvSpPr>
        <p:spPr>
          <a:xfrm>
            <a:off x="720000" y="7632000"/>
            <a:ext cx="6120000" cy="216000"/>
          </a:xfrm>
          <a:prstGeom prst="rect">
            <a:avLst/>
          </a:prstGeom>
          <a:noFill/>
        </p:spPr>
        <p:txBody>
          <a:bodyPr wrap="square" anchor="t">
            <a:spAutoFit/>
          </a:bodyPr>
          <a:lstStyle/>
          <a:p>
            <a:pPr algn="ctr">
              <a:defRPr sz="1100" b="0" i="1">
                <a:solidFill>
                  <a:srgbClr val="4A5568"/>
                </a:solidFill>
                <a:latin typeface="Arial"/>
              </a:defRPr>
            </a:pPr>
            <a:r>
              <a:t>Sleep, Baby. Please. — Including a full chapter for twin parents.</a:t>
            </a:r>
          </a:p>
        </p:txBody>
      </p:sp>
      <p:sp>
        <p:nvSpPr>
          <p:cNvPr id="16" name="Rounded Rectangle 15"/>
          <p:cNvSpPr/>
          <p:nvPr/>
        </p:nvSpPr>
        <p:spPr>
          <a:xfrm>
            <a:off x="2160000" y="7992000"/>
            <a:ext cx="3240000" cy="468000"/>
          </a:xfrm>
          <a:prstGeom prst="round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60000" y="8064000"/>
            <a:ext cx="3240000" cy="324000"/>
          </a:xfrm>
          <a:prstGeom prst="rect">
            <a:avLst/>
          </a:prstGeom>
          <a:noFill/>
        </p:spPr>
        <p:txBody>
          <a:bodyPr wrap="square" anchor="ctr">
            <a:spAutoFit/>
          </a:bodyPr>
          <a:lstStyle/>
          <a:p>
            <a:pPr algn="ctr">
              <a:defRPr sz="1300" b="1" i="0">
                <a:solidFill>
                  <a:srgbClr val="C9A84C"/>
                </a:solidFill>
                <a:latin typeface="Arial"/>
              </a:defRPr>
            </a:pPr>
            <a:r>
              <a:t>GET THE BOOK  →  $19</a:t>
            </a:r>
          </a:p>
        </p:txBody>
      </p:sp>
      <p:sp>
        <p:nvSpPr>
          <p:cNvPr id="18" name="TextBox 17"/>
          <p:cNvSpPr txBox="1"/>
          <p:nvPr/>
        </p:nvSpPr>
        <p:spPr>
          <a:xfrm>
            <a:off x="720000" y="8568000"/>
            <a:ext cx="6120000" cy="180000"/>
          </a:xfrm>
          <a:prstGeom prst="rect">
            <a:avLst/>
          </a:prstGeom>
          <a:noFill/>
        </p:spPr>
        <p:txBody>
          <a:bodyPr wrap="square" anchor="t">
            <a:spAutoFit/>
          </a:bodyPr>
          <a:lstStyle/>
          <a:p>
            <a:pPr algn="ctr">
              <a:defRPr sz="1000" b="1" i="0">
                <a:solidFill>
                  <a:srgbClr val="0D1B3E"/>
                </a:solidFill>
                <a:latin typeface="Arial"/>
              </a:defRPr>
            </a:pPr>
            <a:r>
              <a:t>www.sixandthriving.com</a:t>
            </a:r>
          </a:p>
        </p:txBody>
      </p:sp>
      <p:sp>
        <p:nvSpPr>
          <p:cNvPr id="19" name="TextBox 18"/>
          <p:cNvSpPr txBox="1"/>
          <p:nvPr/>
        </p:nvSpPr>
        <p:spPr>
          <a:xfrm>
            <a:off x="720000" y="9540000"/>
            <a:ext cx="6120000" cy="216000"/>
          </a:xfrm>
          <a:prstGeom prst="rect">
            <a:avLst/>
          </a:prstGeom>
          <a:noFill/>
        </p:spPr>
        <p:txBody>
          <a:bodyPr wrap="square" anchor="t">
            <a:spAutoFit/>
          </a:bodyPr>
          <a:lstStyle/>
          <a:p>
            <a:pPr algn="ctr">
              <a:defRPr sz="1100" b="0" i="1">
                <a:solidFill>
                  <a:srgbClr val="E8C97A"/>
                </a:solidFill>
                <a:latin typeface="Georgia"/>
              </a:defRPr>
            </a:pPr>
            <a:r>
              <a:t>Sleep is coming. For all three of you.</a:t>
            </a:r>
          </a:p>
        </p:txBody>
      </p:sp>
      <p:sp>
        <p:nvSpPr>
          <p:cNvPr id="20" name="TextBox 19"/>
          <p:cNvSpPr txBox="1"/>
          <p:nvPr/>
        </p:nvSpPr>
        <p:spPr>
          <a:xfrm>
            <a:off x="720000" y="9792000"/>
            <a:ext cx="6120000" cy="180000"/>
          </a:xfrm>
          <a:prstGeom prst="rect">
            <a:avLst/>
          </a:prstGeom>
          <a:noFill/>
        </p:spPr>
        <p:txBody>
          <a:bodyPr wrap="square" anchor="t">
            <a:spAutoFit/>
          </a:bodyPr>
          <a:lstStyle/>
          <a:p>
            <a:pPr algn="ctr">
              <a:defRPr sz="1000" b="1" i="0">
                <a:solidFill>
                  <a:srgbClr val="C9A84C"/>
                </a:solidFill>
                <a:latin typeface="Georgia"/>
              </a:defRPr>
            </a:pPr>
            <a:r>
              <a:t>— Six &amp; Thriving</a:t>
            </a:r>
          </a:p>
        </p:txBody>
      </p:sp>
      <p:sp>
        <p:nvSpPr>
          <p:cNvPr id="21" name="Rectangle 20"/>
          <p:cNvSpPr/>
          <p:nvPr/>
        </p:nvSpPr>
        <p:spPr>
          <a:xfrm>
            <a:off x="0" y="10116000"/>
            <a:ext cx="7560000" cy="576000"/>
          </a:xfrm>
          <a:prstGeom prst="rect">
            <a:avLst/>
          </a:prstGeom>
          <a:solidFill>
            <a:srgbClr val="080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10080000"/>
            <a:ext cx="7560000" cy="36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456000" y="10188000"/>
            <a:ext cx="468000" cy="468000"/>
          </a:xfrm>
          <a:prstGeom prst="ellipse">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56000" y="10224000"/>
            <a:ext cx="468000" cy="396000"/>
          </a:xfrm>
          <a:prstGeom prst="rect">
            <a:avLst/>
          </a:prstGeom>
          <a:noFill/>
        </p:spPr>
        <p:txBody>
          <a:bodyPr wrap="square" anchor="ctr">
            <a:spAutoFit/>
          </a:bodyPr>
          <a:lstStyle/>
          <a:p>
            <a:pPr algn="ctr">
              <a:defRPr sz="900" b="1" i="0">
                <a:solidFill>
                  <a:srgbClr val="0D1B3E"/>
                </a:solidFill>
                <a:latin typeface="Arial"/>
              </a:defRPr>
            </a:pPr>
            <a:r>
              <a:t>5</a:t>
            </a:r>
          </a:p>
        </p:txBody>
      </p:sp>
      <p:sp>
        <p:nvSpPr>
          <p:cNvPr id="25" name="TextBox 24"/>
          <p:cNvSpPr txBox="1"/>
          <p:nvPr/>
        </p:nvSpPr>
        <p:spPr>
          <a:xfrm>
            <a:off x="720000" y="10224000"/>
            <a:ext cx="2520000" cy="251999"/>
          </a:xfrm>
          <a:prstGeom prst="rect">
            <a:avLst/>
          </a:prstGeom>
          <a:noFill/>
        </p:spPr>
        <p:txBody>
          <a:bodyPr wrap="square" anchor="t">
            <a:spAutoFit/>
          </a:bodyPr>
          <a:lstStyle/>
          <a:p>
            <a:pPr algn="l">
              <a:defRPr sz="700" b="0" i="0">
                <a:solidFill>
                  <a:srgbClr val="E8C97A"/>
                </a:solidFill>
                <a:latin typeface="Arial"/>
              </a:defRPr>
            </a:pPr>
            <a:r>
              <a:t>www.sixandthriving.com</a:t>
            </a:r>
          </a:p>
        </p:txBody>
      </p:sp>
      <p:sp>
        <p:nvSpPr>
          <p:cNvPr id="26" name="TextBox 25"/>
          <p:cNvSpPr txBox="1"/>
          <p:nvPr/>
        </p:nvSpPr>
        <p:spPr>
          <a:xfrm>
            <a:off x="4500000" y="10224000"/>
            <a:ext cx="2340000" cy="251999"/>
          </a:xfrm>
          <a:prstGeom prst="rect">
            <a:avLst/>
          </a:prstGeom>
          <a:noFill/>
        </p:spPr>
        <p:txBody>
          <a:bodyPr wrap="square" anchor="t">
            <a:spAutoFit/>
          </a:bodyPr>
          <a:lstStyle/>
          <a:p>
            <a:pPr algn="r">
              <a:defRPr sz="700" b="0" i="0">
                <a:solidFill>
                  <a:srgbClr val="718096"/>
                </a:solidFill>
                <a:latin typeface="Arial"/>
              </a:defRPr>
            </a:pPr>
            <a:r>
              <a:t>© 2026 Six &amp; Thriving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